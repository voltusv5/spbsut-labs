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CC145-6EFB-94EB-C790-F9F590A02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36E981-AB28-A96F-0E68-4F2B04880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0E4E0D-291E-7DEA-3F4D-348D90FD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BC3F45-ADFC-1C1E-E9C9-C6D7C8C3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D05ACB-6255-AD67-8F51-83D0D0A3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46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61231-FA51-750A-FD79-FF48F080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B2B6B2-96C3-EA2E-1C5F-998A2FE6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003ACE-9F58-2C35-248E-F7464535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26AB43-1E62-B527-05C8-C0FFF5ED6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8B0D28-3412-91B1-1869-94EB8A92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5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E4029-D507-FC2B-23B3-9B883638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8ACFB6-8238-C7E7-9EF6-A04291ACA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A0A4ED-0FE9-1703-CCD2-EE5EBECC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24A3B-F2AA-5FF1-BB78-9541F1FC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779C00-379E-156C-A4C5-99B8F1B0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94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58F0B-259B-89EA-81DE-B649F155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FFECF6-DCA6-3C53-C65E-832D7F995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2F4A49-7978-4F14-B85D-4541464E8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1C2FC1-55F8-D508-1BB5-DB3A1EFC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1077B9-C371-8F74-7C98-741A19E3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404873-EB82-0ED1-0379-960BD73A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74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57640-901A-5DC5-6A19-ED2F7B59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68912A-205E-B373-159B-AE499F3C2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DA408B-09C9-68E5-B87F-207A63BBB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265C97-12A2-6EDA-ABE8-4991A8A0B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9504AAC-D8BD-456F-7DE4-8583F0C7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A186AD-2380-5EEB-763A-918E0B3A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CEFC46-06B6-E5BE-A33B-BF19B578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8FE743-782B-1117-0050-A761DB55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2860-CFAD-37F4-64DB-2975EC8B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0C5510-2101-6A07-6006-6D59F5CF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2CF8A8-AA1E-FAD4-9A46-FFFEB4BD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0232D0-26CE-2308-D2E9-CA1010BC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8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F5FBB0-0059-DBF6-08C5-9AC6AB53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0D87CD-9C94-5E58-1A16-02E51349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3C5063-7566-27FE-1902-4B4CBCD0B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65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BBC18-6AA8-9773-82EB-9BC08A3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CEFD06-E9D9-59EA-16C9-0AC96FDE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12B5EA-4527-7BBF-DB5E-6C7BEC7F3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1088CA-8BE3-4D54-8AFA-70C3ED1F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A61BB6-6CD7-B94F-BDC3-A5FDEB6F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B4AEF3-FB67-1DFF-1F48-5475D5FC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4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EA299-9EA0-063C-9A4F-489EF1AC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A6079F-21B6-DC24-E99C-FC963F582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8AC774-323A-6728-ECCA-175476A97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FAE94E-13EA-0039-7B24-347614F7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283FAF-A959-895E-DF08-9256CBF6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8D0A23-ED51-0E89-8B30-52F51E7C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37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833B1-BA02-F923-0863-A43DA3A3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D27463-E754-B806-70F6-9745A8077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6DD79B-8057-92B6-9C09-A55B49DC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A69364-98FA-FBC4-9C71-B3C32A12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516E3B-0E9D-2BC5-0784-0B88127B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02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1D6192-4C5C-BB04-0135-7DBD7642E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DCF687-06E4-E771-1E7E-0D473259C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4A2E1-B704-943B-75DA-7898A9AC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25EDF2-C73A-DD9E-3887-709DBD41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C2EE1-F615-4B63-2F70-49E1D1D6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29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88801-5712-B149-9B5F-344D4269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94E0C9-422A-9702-B6AE-F50404DFF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71CB34-8FFD-7005-1E8D-796563BDC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FEC56-5FDC-4D2C-A904-29BFAF1894F5}" type="datetimeFigureOut">
              <a:rPr lang="ru-RU" smtClean="0"/>
              <a:t>30.10.2024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ED8D2D-4115-EEC3-074B-E6999A1C1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3C72-3484-567A-2732-A49B080DF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B6852-D09B-4CAE-9706-F696779495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46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0D2F72-8361-F0EE-7DCC-4BA680BBF029}"/>
              </a:ext>
            </a:extLst>
          </p:cNvPr>
          <p:cNvSpPr txBox="1">
            <a:spLocks/>
          </p:cNvSpPr>
          <p:nvPr/>
        </p:nvSpPr>
        <p:spPr>
          <a:xfrm>
            <a:off x="566057" y="1408903"/>
            <a:ext cx="11059885" cy="36594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333333"/>
                </a:solidFill>
                <a:latin typeface="+mn-lt"/>
              </a:rPr>
              <a:t>На предприятии каждой изготовленной детали присваивают серийный номер, содержащий </a:t>
            </a:r>
            <a:r>
              <a:rPr lang="ru-RU" sz="2400" b="1" dirty="0">
                <a:solidFill>
                  <a:srgbClr val="333333"/>
                </a:solidFill>
                <a:latin typeface="+mn-lt"/>
              </a:rPr>
              <a:t>десятичные цифры</a:t>
            </a:r>
            <a:r>
              <a:rPr lang="ru-RU" sz="2400" dirty="0">
                <a:solidFill>
                  <a:srgbClr val="333333"/>
                </a:solidFill>
                <a:latin typeface="+mn-lt"/>
              </a:rPr>
              <a:t>, </a:t>
            </a:r>
            <a:r>
              <a:rPr lang="ru-RU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  <a:r>
              <a:rPr lang="ru-RU" sz="2400" dirty="0">
                <a:solidFill>
                  <a:srgbClr val="333333"/>
                </a:solidFill>
                <a:latin typeface="+mn-lt"/>
              </a:rPr>
              <a:t> латинские буквы (с учётом регистра) и символы из </a:t>
            </a:r>
            <a:r>
              <a:rPr lang="ru-RU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458</a:t>
            </a:r>
            <a:r>
              <a:rPr lang="ru-RU" sz="2400" dirty="0">
                <a:solidFill>
                  <a:srgbClr val="333333"/>
                </a:solidFill>
                <a:latin typeface="+mn-lt"/>
              </a:rPr>
              <a:t>-символьного специального алфавита. В базе данных для хранения каждого серийного номера отведено одинаковое и минимально возможное число байт. При этом используется посимвольное кодирование серийных номеров, все символы кодируются одинаковым и минимально возможным числом бит. Известно, что для хранения </a:t>
            </a:r>
            <a:r>
              <a:rPr lang="ru-RU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862</a:t>
            </a:r>
            <a:r>
              <a:rPr lang="ru-RU" sz="2400" dirty="0">
                <a:solidFill>
                  <a:srgbClr val="333333"/>
                </a:solidFill>
                <a:latin typeface="+mn-lt"/>
              </a:rPr>
              <a:t> серийных номеров отведено не более </a:t>
            </a:r>
            <a:r>
              <a:rPr lang="ru-RU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276</a:t>
            </a:r>
            <a:r>
              <a:rPr lang="ru-RU" sz="2400" dirty="0">
                <a:solidFill>
                  <a:srgbClr val="333333"/>
                </a:solidFill>
                <a:latin typeface="+mn-lt"/>
              </a:rPr>
              <a:t> Кбайт памяти. Определите максимально возможную длину серийного номера. В ответе запишите только целое число.</a:t>
            </a:r>
            <a:endParaRPr lang="ru-RU" sz="2400" dirty="0">
              <a:latin typeface="+mn-lt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BBAC105-E191-A2EA-3DF7-F24BF814CEB5}"/>
              </a:ext>
            </a:extLst>
          </p:cNvPr>
          <p:cNvSpPr txBox="1">
            <a:spLocks/>
          </p:cNvSpPr>
          <p:nvPr/>
        </p:nvSpPr>
        <p:spPr>
          <a:xfrm>
            <a:off x="5033553" y="449923"/>
            <a:ext cx="2124891" cy="6212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Тип №3</a:t>
            </a:r>
          </a:p>
        </p:txBody>
      </p:sp>
    </p:spTree>
    <p:extLst>
      <p:ext uri="{BB962C8B-B14F-4D97-AF65-F5344CB8AC3E}">
        <p14:creationId xmlns:p14="http://schemas.microsoft.com/office/powerpoint/2010/main" val="80589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E5F11E-0A50-EF64-8E21-B009CBA45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118" y="1935829"/>
            <a:ext cx="9061764" cy="1847849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N</a:t>
            </a:r>
            <a:r>
              <a:rPr lang="en-US" dirty="0"/>
              <a:t> - </a:t>
            </a:r>
            <a:r>
              <a:rPr lang="ru-RU" i="0" dirty="0">
                <a:effectLst/>
              </a:rPr>
              <a:t>количество кодируемых равномерным кодированием объектов</a:t>
            </a:r>
            <a:endParaRPr lang="en-US" i="0" dirty="0">
              <a:effectLst/>
            </a:endParaRPr>
          </a:p>
          <a:p>
            <a:pPr algn="l"/>
            <a:r>
              <a:rPr lang="ru-RU" b="1" i="0" dirty="0">
                <a:effectLst/>
              </a:rPr>
              <a:t>i</a:t>
            </a:r>
            <a:r>
              <a:rPr lang="ru-RU" i="0" dirty="0">
                <a:effectLst/>
              </a:rPr>
              <a:t> - количество бит, которое приходится на один объект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AC8198-FE5C-30A3-519A-05F5802B1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320" y="438665"/>
            <a:ext cx="2211360" cy="1196310"/>
          </a:xfrm>
          <a:prstGeom prst="rect">
            <a:avLst/>
          </a:prstGeom>
        </p:spPr>
      </p:pic>
      <p:pic>
        <p:nvPicPr>
          <p:cNvPr id="1026" name="Picture 2" descr="ЕГЭ по информатике - задание 11 (Определить длину номера)">
            <a:extLst>
              <a:ext uri="{FF2B5EF4-FFF2-40B4-BE49-F238E27FC236}">
                <a16:creationId xmlns:a16="http://schemas.microsoft.com/office/drawing/2014/main" id="{831F1E4A-B39A-0C49-485A-698DE960A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453" y="3326674"/>
            <a:ext cx="5845012" cy="334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9BCC00D-4CE3-8422-52F3-A233FDC79FAD}"/>
              </a:ext>
            </a:extLst>
          </p:cNvPr>
          <p:cNvSpPr txBox="1">
            <a:spLocks/>
          </p:cNvSpPr>
          <p:nvPr/>
        </p:nvSpPr>
        <p:spPr>
          <a:xfrm>
            <a:off x="666668" y="4385387"/>
            <a:ext cx="5660607" cy="1847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0" i="0" dirty="0">
                <a:solidFill>
                  <a:srgbClr val="333333"/>
                </a:solidFill>
                <a:effectLst/>
              </a:rPr>
              <a:t>В этой задаче нам неизвестна длина серийного номера. Обозначим её за </a:t>
            </a:r>
            <a:r>
              <a:rPr lang="ru-RU" b="1" i="0" dirty="0">
                <a:solidFill>
                  <a:srgbClr val="333333"/>
                </a:solidFill>
                <a:effectLst/>
              </a:rPr>
              <a:t>x</a:t>
            </a:r>
            <a:r>
              <a:rPr lang="ru-RU" b="0" i="0" dirty="0">
                <a:solidFill>
                  <a:srgbClr val="333333"/>
                </a:solidFill>
                <a:effectLst/>
              </a:rPr>
              <a:t>. Найдём сколько весит один символ серийного номера.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00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DF5B-9C28-41DF-4A50-CBC1CB28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852610FB-1201-5DA2-EC6E-68DE4D5C451E}"/>
              </a:ext>
            </a:extLst>
          </p:cNvPr>
          <p:cNvSpPr txBox="1">
            <a:spLocks/>
          </p:cNvSpPr>
          <p:nvPr/>
        </p:nvSpPr>
        <p:spPr>
          <a:xfrm>
            <a:off x="256408" y="1840142"/>
            <a:ext cx="9636528" cy="861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0" i="0" dirty="0">
                <a:solidFill>
                  <a:srgbClr val="333333"/>
                </a:solidFill>
                <a:effectLst/>
              </a:rPr>
              <a:t>Найдём, сколько памяти отведено на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серийный номер:</a:t>
            </a:r>
            <a:endParaRPr lang="en-US" sz="2000" b="0" i="0" dirty="0">
              <a:solidFill>
                <a:srgbClr val="333333"/>
              </a:solidFill>
              <a:effectLst/>
            </a:endParaRPr>
          </a:p>
          <a:p>
            <a:pPr algn="just"/>
            <a:r>
              <a:rPr lang="ru-RU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276 Кбайт / 862 = 276*1024 байт / 862 ≈ 327,87 ≈ 327 байт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A1CF27AD-6EFB-B525-98F1-ACB11B70BED4}"/>
              </a:ext>
            </a:extLst>
          </p:cNvPr>
          <p:cNvSpPr txBox="1">
            <a:spLocks/>
          </p:cNvSpPr>
          <p:nvPr/>
        </p:nvSpPr>
        <p:spPr>
          <a:xfrm>
            <a:off x="267541" y="2983826"/>
            <a:ext cx="11656917" cy="861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0" i="0" dirty="0">
                <a:solidFill>
                  <a:srgbClr val="333333"/>
                </a:solidFill>
                <a:effectLst/>
              </a:rPr>
              <a:t>Мы здесь округлили в меньшую сторону. Если бы мы округлили в большую сторону, то в итоге бы превысили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276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Кбайт памяти. А в задаче сказано, что выделено </a:t>
            </a:r>
            <a:r>
              <a:rPr lang="ru-RU" sz="2000" b="1" i="0" dirty="0">
                <a:solidFill>
                  <a:srgbClr val="333333"/>
                </a:solidFill>
                <a:effectLst/>
              </a:rPr>
              <a:t>не более </a:t>
            </a:r>
            <a:r>
              <a:rPr lang="ru-RU" sz="2000" b="1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276</a:t>
            </a:r>
            <a:r>
              <a:rPr lang="ru-RU" sz="2000" b="1" i="0" dirty="0">
                <a:solidFill>
                  <a:srgbClr val="333333"/>
                </a:solidFill>
                <a:effectLst/>
              </a:rPr>
              <a:t> Кбайт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. В виде дробного числа тоже нельзя оставлять, т.к. сказано, что для номера отведено целое число байт.</a:t>
            </a:r>
            <a:endParaRPr lang="ru-RU" sz="2000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FF29996D-624C-1D01-83E1-E8A06DEC95BB}"/>
              </a:ext>
            </a:extLst>
          </p:cNvPr>
          <p:cNvSpPr txBox="1">
            <a:spLocks/>
          </p:cNvSpPr>
          <p:nvPr/>
        </p:nvSpPr>
        <p:spPr>
          <a:xfrm>
            <a:off x="256408" y="4127510"/>
            <a:ext cx="9087890" cy="2010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0" i="0" dirty="0">
                <a:solidFill>
                  <a:srgbClr val="333333"/>
                </a:solidFill>
                <a:effectLst/>
              </a:rPr>
              <a:t>Переведём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10*x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в байты и получим уравнение:</a:t>
            </a:r>
            <a:endParaRPr lang="en-US" sz="2000" b="0" i="0" dirty="0">
              <a:solidFill>
                <a:srgbClr val="333333"/>
              </a:solidFill>
              <a:effectLst/>
            </a:endParaRPr>
          </a:p>
          <a:p>
            <a:pPr algn="just"/>
            <a:r>
              <a:rPr lang="ru-RU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10*x / 8 = 327 байт</a:t>
            </a:r>
            <a:endParaRPr lang="en-US" sz="2000" b="0" i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10*x = 327 * 8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 = 327*8 / 10 = 261,6 ≈ 261</a:t>
            </a:r>
          </a:p>
          <a:p>
            <a:pPr algn="just"/>
            <a:r>
              <a:rPr lang="ru-RU" sz="2000" b="0" i="0" dirty="0">
                <a:solidFill>
                  <a:srgbClr val="333333"/>
                </a:solidFill>
                <a:effectLst/>
              </a:rPr>
              <a:t>Здесь мы опять округлили в меньшую сторону, т.к. если длина номера будет больше, чем положено, для номера опять придётся выделять больше памяти, чем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327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байт, и в итоге мы превысим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276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Кбайт для всех номеров.</a:t>
            </a:r>
            <a:endParaRPr lang="ru-RU" sz="2000" dirty="0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DF1981F-97C3-8A27-54B0-00823E9CE2B9}"/>
              </a:ext>
            </a:extLst>
          </p:cNvPr>
          <p:cNvSpPr txBox="1">
            <a:spLocks/>
          </p:cNvSpPr>
          <p:nvPr/>
        </p:nvSpPr>
        <p:spPr>
          <a:xfrm>
            <a:off x="9451093" y="5132564"/>
            <a:ext cx="2845409" cy="3456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4000" b="1" dirty="0">
                <a:highlight>
                  <a:srgbClr val="00FF00"/>
                </a:highlight>
              </a:rPr>
              <a:t>Ответ: </a:t>
            </a:r>
            <a:r>
              <a:rPr lang="ru-RU" sz="4000" b="1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261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7F107EC-7231-5A78-8DDC-E57C13C0DE2C}"/>
              </a:ext>
            </a:extLst>
          </p:cNvPr>
          <p:cNvCxnSpPr>
            <a:cxnSpLocks/>
          </p:cNvCxnSpPr>
          <p:nvPr/>
        </p:nvCxnSpPr>
        <p:spPr>
          <a:xfrm>
            <a:off x="4731428" y="5454288"/>
            <a:ext cx="4421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B1576213-2FFB-CB4C-B5E9-9DB9ECD8BE0B}"/>
              </a:ext>
            </a:extLst>
          </p:cNvPr>
          <p:cNvSpPr txBox="1">
            <a:spLocks/>
          </p:cNvSpPr>
          <p:nvPr/>
        </p:nvSpPr>
        <p:spPr>
          <a:xfrm>
            <a:off x="256408" y="396568"/>
            <a:ext cx="11508872" cy="7899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0" i="0" dirty="0">
                <a:solidFill>
                  <a:srgbClr val="333333"/>
                </a:solidFill>
                <a:effectLst/>
              </a:rPr>
              <a:t>Получается, что </a:t>
            </a:r>
            <a:r>
              <a:rPr lang="ru-RU" sz="2000" b="1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ru-RU" sz="2000" b="1" i="0" dirty="0">
                <a:solidFill>
                  <a:srgbClr val="333333"/>
                </a:solidFill>
                <a:effectLst/>
              </a:rPr>
              <a:t> бит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 весит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символ серийного номера. Тогда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10*x</a:t>
            </a:r>
            <a:r>
              <a:rPr lang="ru-RU" sz="2000" b="0" i="0" dirty="0">
                <a:solidFill>
                  <a:srgbClr val="333333"/>
                </a:solidFill>
                <a:effectLst/>
              </a:rPr>
              <a:t> бит - будет весить весь серийный номер.</a:t>
            </a:r>
            <a:r>
              <a:rPr lang="en-US" sz="2000" b="0" i="0" dirty="0">
                <a:solidFill>
                  <a:srgbClr val="333333"/>
                </a:solidFill>
                <a:effectLst/>
              </a:rPr>
              <a:t> 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Латинские буквы можно использовать с учётом регистра, это значит, допускаются как большие буквы, так и маленькие.</a:t>
            </a:r>
            <a:endParaRPr lang="ru-RU" sz="2000" b="0" i="0" dirty="0">
              <a:solidFill>
                <a:srgbClr val="333333"/>
              </a:solidFill>
              <a:effectLst/>
            </a:endParaRPr>
          </a:p>
          <a:p>
            <a:br>
              <a:rPr lang="ru-RU" sz="2000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219410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340</Words>
  <Application>Microsoft Office PowerPoint</Application>
  <PresentationFormat>Широкоэкранный</PresentationFormat>
  <Paragraphs>16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Verdana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Ter</dc:creator>
  <cp:lastModifiedBy>Max Ter</cp:lastModifiedBy>
  <cp:revision>6</cp:revision>
  <dcterms:created xsi:type="dcterms:W3CDTF">2024-10-23T08:21:49Z</dcterms:created>
  <dcterms:modified xsi:type="dcterms:W3CDTF">2024-10-30T11:40:11Z</dcterms:modified>
</cp:coreProperties>
</file>