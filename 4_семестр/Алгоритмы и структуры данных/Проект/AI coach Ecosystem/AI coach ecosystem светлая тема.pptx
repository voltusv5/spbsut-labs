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70" r:id="rId2"/>
    <p:sldId id="257" r:id="rId3"/>
    <p:sldId id="258" r:id="rId4"/>
    <p:sldId id="259" r:id="rId5"/>
    <p:sldId id="260" r:id="rId6"/>
    <p:sldId id="268" r:id="rId7"/>
    <p:sldId id="266" r:id="rId8"/>
    <p:sldId id="267" r:id="rId9"/>
    <p:sldId id="261" r:id="rId10"/>
    <p:sldId id="264" r:id="rId11"/>
    <p:sldId id="265" r:id="rId12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1E1"/>
          </a:solidFill>
        </a:fill>
      </a:tcStyle>
    </a:wholeTbl>
    <a:band2H>
      <a:tcTxStyle/>
      <a:tcStyle>
        <a:tcBdr/>
        <a:fill>
          <a:solidFill>
            <a:srgbClr val="FCE9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1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7" d="100"/>
          <a:sy n="197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9" name="Shape 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c4718ee165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c4718ee165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lvl1pPr>
          </a:lstStyle>
          <a:p>
            <a:r>
              <a:t>Указываются задачи проекта/разработки, в обязательном порядке с привязкой к потенциальным потребителям. Что планировалось создать и какие проблемы потребителей должен решать результат проекта.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3" name="Shape 11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lvl1pPr>
          </a:lstStyle>
          <a:p>
            <a:r>
              <a:t>Указываются задачи проекта/разработки, в обязательном порядке с привязкой к потенциальным потребителям. Что планировалось создать и какие проблемы потребителей должен решать результат проекта.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lvl1pPr>
          </a:lstStyle>
          <a:p>
            <a:r>
              <a:t>Указываются задачи проекта/разработки, в обязательном порядке с привязкой к потенциальным потребителям. Что планировалось создать и какие проблемы потребителей должен решать результат проекта.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4" name="Shape 13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lvl1pPr>
          </a:lstStyle>
          <a:p>
            <a:r>
              <a:t>Указываются задачи проекта/разработки, в обязательном порядке с привязкой к потенциальным потребителям. Что планировалось создать и какие проблемы потребителей должен решать результат проекта.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BD1DF-AA6F-738F-C468-11AC0C803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>
            <a:extLst>
              <a:ext uri="{FF2B5EF4-FFF2-40B4-BE49-F238E27FC236}">
                <a16:creationId xmlns:a16="http://schemas.microsoft.com/office/drawing/2014/main" id="{84C1E10E-88E6-E9B6-2B48-F37686235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4" name="Shape 134">
            <a:extLst>
              <a:ext uri="{FF2B5EF4-FFF2-40B4-BE49-F238E27FC236}">
                <a16:creationId xmlns:a16="http://schemas.microsoft.com/office/drawing/2014/main" id="{28F9F93B-792B-20F2-25EB-E54EFE51686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lvl1pPr>
          </a:lstStyle>
          <a:p>
            <a:r>
              <a:t>Указываются задачи проекта/разработки, в обязательном порядке с привязкой к потенциальным потребителям. Что планировалось создать и какие проблемы потребителей должен решать результат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1269741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C141A-DBC5-C3B9-EB26-EE8E0A456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>
            <a:extLst>
              <a:ext uri="{FF2B5EF4-FFF2-40B4-BE49-F238E27FC236}">
                <a16:creationId xmlns:a16="http://schemas.microsoft.com/office/drawing/2014/main" id="{A97C4C60-B70E-873E-5A41-3E79769A8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4" name="Shape 134">
            <a:extLst>
              <a:ext uri="{FF2B5EF4-FFF2-40B4-BE49-F238E27FC236}">
                <a16:creationId xmlns:a16="http://schemas.microsoft.com/office/drawing/2014/main" id="{1F8A8016-C122-65A8-097F-5F138264827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lvl1pPr>
          </a:lstStyle>
          <a:p>
            <a:r>
              <a:t>Указываются задачи проекта/разработки, в обязательном порядке с привязкой к потенциальным потребителям. Что планировалось создать и какие проблемы потребителей должен решать результат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1298687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326F-1407-6B6A-10A7-59794F61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>
            <a:extLst>
              <a:ext uri="{FF2B5EF4-FFF2-40B4-BE49-F238E27FC236}">
                <a16:creationId xmlns:a16="http://schemas.microsoft.com/office/drawing/2014/main" id="{A3CBE7FC-63CB-C12F-06D4-90B184DB8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4" name="Shape 134">
            <a:extLst>
              <a:ext uri="{FF2B5EF4-FFF2-40B4-BE49-F238E27FC236}">
                <a16:creationId xmlns:a16="http://schemas.microsoft.com/office/drawing/2014/main" id="{E9CEF490-602E-9F4D-70F6-9CAB612F2A15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lvl1pPr>
          </a:lstStyle>
          <a:p>
            <a:r>
              <a:t>Указываются задачи проекта/разработки, в обязательном порядке с привязкой к потенциальным потребителям. Что планировалось создать и какие проблемы потребителей должен решать результат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297637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2" name="Shape 14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lvl1pPr>
          </a:lstStyle>
          <a:p>
            <a:r>
              <a:t>Указываются задачи проекта/разработки, в обязательном порядке с привязкой к потенциальным потребителям. Что планировалось создать и какие проблемы потребителей должен решать результат проекта.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6" name="Shape 16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lvl1pPr>
          </a:lstStyle>
          <a:p>
            <a:r>
              <a:t>Указываются задачи проекта/разработки, в обязательном порядке с привязкой к потенциальным потребителям. Что планировалось создать и какие проблемы потребителей должен решать результат проекта.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6;p1" descr="Google Shape;6;p1"/>
          <p:cNvPicPr>
            <a:picLocks noChangeAspect="1"/>
          </p:cNvPicPr>
          <p:nvPr/>
        </p:nvPicPr>
        <p:blipFill>
          <a:blip r:embed="rId2"/>
          <a:srcRect t="59" b="59"/>
          <a:stretch>
            <a:fillRect/>
          </a:stretch>
        </p:blipFill>
        <p:spPr>
          <a:xfrm>
            <a:off x="333137" y="1118462"/>
            <a:ext cx="11934523" cy="4445078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8;p1" descr="Google Shape;8;p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904" y="39437"/>
            <a:ext cx="1635793" cy="421522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704211" y="4822030"/>
            <a:ext cx="206140" cy="18588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6;p1" descr="Google Shape;6;p1"/>
          <p:cNvPicPr>
            <a:picLocks noChangeAspect="1"/>
          </p:cNvPicPr>
          <p:nvPr/>
        </p:nvPicPr>
        <p:blipFill>
          <a:blip r:embed="rId2"/>
          <a:srcRect t="59" b="59"/>
          <a:stretch>
            <a:fillRect/>
          </a:stretch>
        </p:blipFill>
        <p:spPr>
          <a:xfrm>
            <a:off x="333137" y="1118462"/>
            <a:ext cx="11934523" cy="4445078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8;p1" descr="Google Shape;8;p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904" y="39437"/>
            <a:ext cx="1635793" cy="421522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229600" cy="10287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4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74899" y="4822030"/>
            <a:ext cx="206140" cy="185881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range" type="tx">
  <p:cSld name="Title Orange">
    <p:bg>
      <p:bgPr>
        <a:gradFill>
          <a:gsLst>
            <a:gs pos="0">
              <a:srgbClr val="F67F00"/>
            </a:gs>
            <a:gs pos="100000">
              <a:srgbClr val="FFAE3B"/>
            </a:gs>
          </a:gsLst>
          <a:lin ang="7465411" scaled="0"/>
        </a:gra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t="59" b="59"/>
          <a:stretch/>
        </p:blipFill>
        <p:spPr>
          <a:xfrm>
            <a:off x="333138" y="1118463"/>
            <a:ext cx="11934523" cy="444507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448925" y="118500"/>
            <a:ext cx="5631300" cy="13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  <a:defRPr sz="4200" b="0">
                <a:solidFill>
                  <a:srgbClr val="FFFFFF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8913D"/>
              </a:buClr>
              <a:buSzPts val="100"/>
              <a:buNone/>
              <a:defRPr sz="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448922" y="1840706"/>
            <a:ext cx="7810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457189" lvl="0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1pPr>
            <a:lvl2pPr marL="914378" lvl="1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2pPr>
            <a:lvl3pPr marL="1371566" lvl="2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3pPr>
            <a:lvl4pPr marL="1828754" lvl="3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4pPr>
            <a:lvl5pPr marL="2285943" lvl="4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5pPr>
            <a:lvl6pPr marL="2743132" lvl="5" indent="-228594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6pPr>
            <a:lvl7pPr marL="3200320" lvl="6" indent="-228594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7pPr>
            <a:lvl8pPr marL="3657509" lvl="7" indent="-228594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8pPr>
            <a:lvl9pPr marL="4114697" lvl="8" indent="-228594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None/>
              <a:defRPr/>
            </a:lvl9pPr>
          </a:lstStyle>
          <a:p>
            <a:endParaRPr/>
          </a:p>
        </p:txBody>
      </p:sp>
      <p:pic>
        <p:nvPicPr>
          <p:cNvPr id="15" name="Google Shape;15;p2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2072" y="359812"/>
            <a:ext cx="1637378" cy="42192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709450" y="4822031"/>
            <a:ext cx="206100" cy="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E4F"/>
              </a:buClr>
              <a:buSzPts val="1100"/>
              <a:buFont typeface="Arial"/>
              <a:buNone/>
              <a:defRPr sz="1100" b="0">
                <a:solidFill>
                  <a:srgbClr val="4D4E4F"/>
                </a:solidFill>
              </a:defRPr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78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4363629" y="4321967"/>
            <a:ext cx="206140" cy="185881"/>
          </a:xfrm>
          <a:prstGeom prst="rect">
            <a:avLst/>
          </a:prstGeom>
          <a:ln w="12700">
            <a:miter lim="400000"/>
          </a:ln>
        </p:spPr>
        <p:txBody>
          <a:bodyPr wrap="none" lIns="19025" tIns="19025" rIns="19025" bIns="19025">
            <a:spAutoFit/>
          </a:bodyPr>
          <a:lstStyle>
            <a:lvl1pPr algn="r">
              <a:defRPr sz="1100">
                <a:solidFill>
                  <a:srgbClr val="4D4E4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" name="Google Shape;6;p1" descr="Google Shape;6;p1"/>
          <p:cNvPicPr>
            <a:picLocks noChangeAspect="1"/>
          </p:cNvPicPr>
          <p:nvPr/>
        </p:nvPicPr>
        <p:blipFill>
          <a:blip r:embed="rId6"/>
          <a:srcRect t="59" b="58"/>
          <a:stretch>
            <a:fillRect/>
          </a:stretch>
        </p:blipFill>
        <p:spPr>
          <a:xfrm>
            <a:off x="-558016" y="1144292"/>
            <a:ext cx="11934524" cy="444507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994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25" tIns="19025" rIns="19025" bIns="19025"/>
          <a:lstStyle/>
          <a:p>
            <a:r>
              <a:t>Текст заголовка</a:t>
            </a:r>
          </a:p>
        </p:txBody>
      </p:sp>
      <p:sp>
        <p:nvSpPr>
          <p:cNvPr id="5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25" tIns="19025" rIns="19025" bIns="19025"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</p:sldLayoutIdLst>
  <p:transition spd="med"/>
  <p:txStyles>
    <p:titleStyle>
      <a:lvl1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94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94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94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94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94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94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94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94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FF94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228600" marR="0" indent="0" algn="l" defTabSz="914400" rtl="0" latinLnBrk="0">
        <a:lnSpc>
          <a:spcPct val="15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4D4E4F"/>
          </a:solidFill>
          <a:uFillTx/>
          <a:latin typeface="+mj-lt"/>
          <a:ea typeface="+mj-ea"/>
          <a:cs typeface="+mj-cs"/>
          <a:sym typeface="Arial"/>
        </a:defRPr>
      </a:lvl1pPr>
      <a:lvl2pPr marL="228600" marR="0" indent="457200" algn="l" defTabSz="914400" rtl="0" latinLnBrk="0">
        <a:lnSpc>
          <a:spcPct val="15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4D4E4F"/>
          </a:solidFill>
          <a:uFillTx/>
          <a:latin typeface="+mj-lt"/>
          <a:ea typeface="+mj-ea"/>
          <a:cs typeface="+mj-cs"/>
          <a:sym typeface="Arial"/>
        </a:defRPr>
      </a:lvl2pPr>
      <a:lvl3pPr marL="228600" marR="0" indent="914400" algn="l" defTabSz="914400" rtl="0" latinLnBrk="0">
        <a:lnSpc>
          <a:spcPct val="15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4D4E4F"/>
          </a:solidFill>
          <a:uFillTx/>
          <a:latin typeface="+mj-lt"/>
          <a:ea typeface="+mj-ea"/>
          <a:cs typeface="+mj-cs"/>
          <a:sym typeface="Arial"/>
        </a:defRPr>
      </a:lvl3pPr>
      <a:lvl4pPr marL="228600" marR="0" indent="1371600" algn="l" defTabSz="914400" rtl="0" latinLnBrk="0">
        <a:lnSpc>
          <a:spcPct val="15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4D4E4F"/>
          </a:solidFill>
          <a:uFillTx/>
          <a:latin typeface="+mj-lt"/>
          <a:ea typeface="+mj-ea"/>
          <a:cs typeface="+mj-cs"/>
          <a:sym typeface="Arial"/>
        </a:defRPr>
      </a:lvl4pPr>
      <a:lvl5pPr marL="228600" marR="0" indent="1828800" algn="l" defTabSz="914400" rtl="0" latinLnBrk="0">
        <a:lnSpc>
          <a:spcPct val="15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4D4E4F"/>
          </a:solidFill>
          <a:uFillTx/>
          <a:latin typeface="+mj-lt"/>
          <a:ea typeface="+mj-ea"/>
          <a:cs typeface="+mj-cs"/>
          <a:sym typeface="Arial"/>
        </a:defRPr>
      </a:lvl5pPr>
      <a:lvl6pPr marL="228600" marR="0" indent="2286000" algn="l" defTabSz="914400" rtl="0" latinLnBrk="0">
        <a:lnSpc>
          <a:spcPct val="15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4D4E4F"/>
          </a:solidFill>
          <a:uFillTx/>
          <a:latin typeface="+mj-lt"/>
          <a:ea typeface="+mj-ea"/>
          <a:cs typeface="+mj-cs"/>
          <a:sym typeface="Arial"/>
        </a:defRPr>
      </a:lvl6pPr>
      <a:lvl7pPr marL="228600" marR="0" indent="2743200" algn="l" defTabSz="914400" rtl="0" latinLnBrk="0">
        <a:lnSpc>
          <a:spcPct val="15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4D4E4F"/>
          </a:solidFill>
          <a:uFillTx/>
          <a:latin typeface="+mj-lt"/>
          <a:ea typeface="+mj-ea"/>
          <a:cs typeface="+mj-cs"/>
          <a:sym typeface="Arial"/>
        </a:defRPr>
      </a:lvl7pPr>
      <a:lvl8pPr marL="228600" marR="0" indent="3200400" algn="l" defTabSz="914400" rtl="0" latinLnBrk="0">
        <a:lnSpc>
          <a:spcPct val="15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4D4E4F"/>
          </a:solidFill>
          <a:uFillTx/>
          <a:latin typeface="+mj-lt"/>
          <a:ea typeface="+mj-ea"/>
          <a:cs typeface="+mj-cs"/>
          <a:sym typeface="Arial"/>
        </a:defRPr>
      </a:lvl8pPr>
      <a:lvl9pPr marL="228600" marR="0" indent="3657600" algn="l" defTabSz="914400" rtl="0" latinLnBrk="0">
        <a:lnSpc>
          <a:spcPct val="150000"/>
        </a:lnSpc>
        <a:spcBef>
          <a:spcPts val="140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rgbClr val="4D4E4F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41995" y="391870"/>
            <a:ext cx="6125060" cy="1840706"/>
          </a:xfrm>
          <a:prstGeom prst="rect">
            <a:avLst/>
          </a:prstGeom>
        </p:spPr>
        <p:txBody>
          <a:bodyPr spcFirstLastPara="1" vert="horz" wrap="square" lIns="19025" tIns="19025" rIns="19025" bIns="19025" rtlCol="0" anchor="b" anchorCtr="0">
            <a:noAutofit/>
          </a:bodyPr>
          <a:lstStyle/>
          <a:p>
            <a:pPr lvl="0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«AI Fitness Coach </a:t>
            </a:r>
            <a:r>
              <a:rPr lang="ru-RU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Ecosystem</a:t>
            </a:r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Централизованная платформа с ИИ-тренером, чатом, персональными рекомендациями, трекингом прогресса и питания»</a:t>
            </a:r>
            <a:endParaRPr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832100" y="4305231"/>
            <a:ext cx="7810500" cy="446400"/>
          </a:xfrm>
          <a:prstGeom prst="rect">
            <a:avLst/>
          </a:prstGeom>
        </p:spPr>
        <p:txBody>
          <a:bodyPr spcFirstLastPara="1" vert="horz" wrap="square" lIns="19025" tIns="19025" rIns="19025" bIns="19025" rtlCol="0" anchor="t" anchorCtr="0">
            <a:noAutofit/>
          </a:bodyPr>
          <a:lstStyle/>
          <a:p>
            <a:pPr marL="0" indent="0" algn="ctr"/>
            <a:r>
              <a:rPr lang="ru-RU" sz="2200" dirty="0"/>
              <a:t>Санкт-Петербург</a:t>
            </a:r>
          </a:p>
          <a:p>
            <a:pPr marL="0" indent="0" algn="ctr"/>
            <a:r>
              <a:rPr lang="ru-RU" sz="2200" dirty="0"/>
              <a:t>27</a:t>
            </a:r>
            <a:r>
              <a:rPr lang="en-US" sz="2200" dirty="0"/>
              <a:t>.0</a:t>
            </a:r>
            <a:r>
              <a:rPr lang="ru-RU" sz="2200" dirty="0"/>
              <a:t>5</a:t>
            </a:r>
            <a:r>
              <a:rPr lang="en-US" sz="2200" dirty="0"/>
              <a:t>.2026</a:t>
            </a:r>
            <a:endParaRPr sz="2200" dirty="0"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709450" y="4822031"/>
            <a:ext cx="206100" cy="145500"/>
          </a:xfrm>
          <a:prstGeom prst="rect">
            <a:avLst/>
          </a:prstGeom>
        </p:spPr>
        <p:txBody>
          <a:bodyPr spcFirstLastPara="1" vert="horz" wrap="square" lIns="19025" tIns="19025" rIns="19025" bIns="19025" rtlCol="0" anchor="t" anchorCtr="0">
            <a:noAutofit/>
          </a:bodyPr>
          <a:lstStyle/>
          <a:p>
            <a:fld id="{00000000-1234-1234-1234-123412341234}" type="slidenum">
              <a:rPr lang="ru"/>
              <a:pPr/>
              <a:t>1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2" name="Google Shape;28;p5">
            <a:extLst>
              <a:ext uri="{FF2B5EF4-FFF2-40B4-BE49-F238E27FC236}">
                <a16:creationId xmlns:a16="http://schemas.microsoft.com/office/drawing/2014/main" id="{54B46F85-1483-9033-A1FA-BA5E2E0D6990}"/>
              </a:ext>
            </a:extLst>
          </p:cNvPr>
          <p:cNvSpPr txBox="1">
            <a:spLocks/>
          </p:cNvSpPr>
          <p:nvPr/>
        </p:nvSpPr>
        <p:spPr>
          <a:xfrm>
            <a:off x="2168237" y="2183179"/>
            <a:ext cx="6747314" cy="2122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25" tIns="19025" rIns="19025" bIns="190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4D4E4F"/>
              </a:buClr>
              <a:buSzPts val="1300"/>
              <a:buFont typeface="Arial"/>
              <a:buNone/>
              <a:defRPr sz="1800" b="0" i="0" u="none" strike="noStrike" cap="none">
                <a:solidFill>
                  <a:srgbClr val="4D4E4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r"/>
            <a:r>
              <a:rPr lang="ru-RU" sz="1500" dirty="0"/>
              <a:t>Выполнили</a:t>
            </a:r>
            <a:r>
              <a:rPr lang="en-US" sz="1500" dirty="0"/>
              <a:t> </a:t>
            </a:r>
            <a:r>
              <a:rPr lang="ru-RU" sz="1500" dirty="0"/>
              <a:t>студенты группы ИКПИ-42: </a:t>
            </a:r>
            <a:br>
              <a:rPr lang="ru-RU" sz="1500" dirty="0"/>
            </a:br>
            <a:r>
              <a:rPr lang="ru-RU" sz="1500" dirty="0"/>
              <a:t>Терещенко М. А. </a:t>
            </a:r>
            <a:r>
              <a:rPr lang="ru-RU" sz="1500" dirty="0" err="1"/>
              <a:t>Гарькуша</a:t>
            </a:r>
            <a:r>
              <a:rPr lang="ru-RU" sz="1500" dirty="0"/>
              <a:t> Н. А. Кочетков А. А. </a:t>
            </a:r>
            <a:br>
              <a:rPr lang="ru-RU" sz="1500" dirty="0"/>
            </a:br>
            <a:r>
              <a:rPr lang="ru-RU" sz="1500" dirty="0" err="1"/>
              <a:t>Каптёл</a:t>
            </a:r>
            <a:r>
              <a:rPr lang="ru-RU" sz="1500" dirty="0"/>
              <a:t> В. В. Бурыкина Е. Д.</a:t>
            </a:r>
            <a:endParaRPr lang="en-US" sz="1500" dirty="0"/>
          </a:p>
          <a:p>
            <a:pPr marL="0" indent="0" algn="r"/>
            <a:br>
              <a:rPr lang="ru-RU" sz="1500" dirty="0"/>
            </a:br>
            <a:r>
              <a:rPr lang="ru-RU" sz="1500" dirty="0"/>
              <a:t>Научный руководитель:</a:t>
            </a:r>
            <a:br>
              <a:rPr lang="ru-RU" sz="1500" dirty="0"/>
            </a:br>
            <a:r>
              <a:rPr lang="ru-RU" sz="1500" dirty="0"/>
              <a:t>Кандидат технических наук, Доцент кафедры </a:t>
            </a:r>
            <a:r>
              <a:rPr lang="ru-RU" sz="1500" dirty="0" err="1"/>
              <a:t>ПИиВТ</a:t>
            </a:r>
            <a:br>
              <a:rPr lang="ru-RU" sz="1500" dirty="0"/>
            </a:br>
            <a:r>
              <a:rPr lang="ru-RU" sz="1500" dirty="0"/>
              <a:t>Дагаев Александр Владимирович</a:t>
            </a:r>
            <a:br>
              <a:rPr lang="ru-RU" sz="1500" dirty="0"/>
            </a:br>
            <a:endParaRPr lang="ru-RU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Номер слайда 6"/>
          <p:cNvSpPr txBox="1">
            <a:spLocks noGrp="1"/>
          </p:cNvSpPr>
          <p:nvPr>
            <p:ph type="sldNum" sz="quarter" idx="2"/>
          </p:nvPr>
        </p:nvSpPr>
        <p:spPr>
          <a:xfrm>
            <a:off x="8990155" y="4966249"/>
            <a:ext cx="128446" cy="1858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r"/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57" name="Заголовок 1"/>
          <p:cNvSpPr txBox="1">
            <a:spLocks noGrp="1"/>
          </p:cNvSpPr>
          <p:nvPr>
            <p:ph type="title"/>
          </p:nvPr>
        </p:nvSpPr>
        <p:spPr>
          <a:xfrm>
            <a:off x="115449" y="104547"/>
            <a:ext cx="7149557" cy="4407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ru-RU" sz="2000" dirty="0"/>
              <a:t>Определение актуальности и проблемы исследования</a:t>
            </a:r>
            <a:endParaRPr sz="2000" dirty="0"/>
          </a:p>
        </p:txBody>
      </p:sp>
      <p:sp>
        <p:nvSpPr>
          <p:cNvPr id="58" name="AutoShape 19"/>
          <p:cNvSpPr/>
          <p:nvPr/>
        </p:nvSpPr>
        <p:spPr>
          <a:xfrm>
            <a:off x="580065" y="3345724"/>
            <a:ext cx="4064184" cy="1560946"/>
          </a:xfrm>
          <a:prstGeom prst="roundRect">
            <a:avLst>
              <a:gd name="adj" fmla="val 6097"/>
            </a:avLst>
          </a:prstGeom>
          <a:ln w="22225">
            <a:solidFill>
              <a:srgbClr val="FF6600"/>
            </a:solidFill>
          </a:ln>
        </p:spPr>
        <p:txBody>
          <a:bodyPr lIns="45719" rIns="45719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9" name="AutoShape 16"/>
          <p:cNvSpPr/>
          <p:nvPr/>
        </p:nvSpPr>
        <p:spPr>
          <a:xfrm>
            <a:off x="316721" y="3464806"/>
            <a:ext cx="106221" cy="4184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42" y="0"/>
                </a:moveTo>
                <a:lnTo>
                  <a:pt x="5358" y="0"/>
                </a:lnTo>
                <a:cubicBezTo>
                  <a:pt x="2399" y="0"/>
                  <a:pt x="0" y="609"/>
                  <a:pt x="0" y="1360"/>
                </a:cubicBezTo>
                <a:lnTo>
                  <a:pt x="0" y="20240"/>
                </a:lnTo>
                <a:cubicBezTo>
                  <a:pt x="0" y="20991"/>
                  <a:pt x="2399" y="21600"/>
                  <a:pt x="5358" y="21600"/>
                </a:cubicBezTo>
                <a:lnTo>
                  <a:pt x="16242" y="21600"/>
                </a:lnTo>
                <a:cubicBezTo>
                  <a:pt x="19201" y="21600"/>
                  <a:pt x="21600" y="20991"/>
                  <a:pt x="21600" y="20240"/>
                </a:cubicBezTo>
                <a:lnTo>
                  <a:pt x="21600" y="1360"/>
                </a:lnTo>
                <a:cubicBezTo>
                  <a:pt x="21600" y="609"/>
                  <a:pt x="19201" y="0"/>
                  <a:pt x="16242" y="0"/>
                </a:cubicBezTo>
                <a:close/>
              </a:path>
            </a:pathLst>
          </a:custGeom>
          <a:solidFill>
            <a:srgbClr val="FF9400"/>
          </a:solidFill>
          <a:ln w="22225">
            <a:solidFill>
              <a:srgbClr val="FF6600"/>
            </a:solidFill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0" name="Цель -"/>
          <p:cNvSpPr txBox="1"/>
          <p:nvPr/>
        </p:nvSpPr>
        <p:spPr>
          <a:xfrm>
            <a:off x="688681" y="3667120"/>
            <a:ext cx="3522757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rPr lang="ru-RU" dirty="0"/>
              <a:t>Цель - Разработка централизованной </a:t>
            </a:r>
            <a:endParaRPr lang="en-US" dirty="0"/>
          </a:p>
          <a:p>
            <a:r>
              <a:rPr lang="ru-RU" dirty="0"/>
              <a:t>мобильной экосистемы с персональным </a:t>
            </a:r>
            <a:endParaRPr lang="en-US" dirty="0"/>
          </a:p>
          <a:p>
            <a:r>
              <a:rPr lang="ru-RU" dirty="0"/>
              <a:t>ИИ-тренером для всестороннего </a:t>
            </a:r>
            <a:endParaRPr lang="en-US" dirty="0"/>
          </a:p>
          <a:p>
            <a:r>
              <a:rPr lang="ru-RU" dirty="0"/>
              <a:t>сопровождения спортивных занятий</a:t>
            </a:r>
            <a:endParaRPr dirty="0"/>
          </a:p>
        </p:txBody>
      </p:sp>
      <p:sp>
        <p:nvSpPr>
          <p:cNvPr id="61" name="Задачи:"/>
          <p:cNvSpPr txBox="1"/>
          <p:nvPr/>
        </p:nvSpPr>
        <p:spPr>
          <a:xfrm>
            <a:off x="4999220" y="1635398"/>
            <a:ext cx="750489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 err="1"/>
              <a:t>Задачи</a:t>
            </a:r>
            <a:r>
              <a:rPr dirty="0"/>
              <a:t>:</a:t>
            </a:r>
          </a:p>
        </p:txBody>
      </p:sp>
      <p:sp>
        <p:nvSpPr>
          <p:cNvPr id="62" name="Атуальность -"/>
          <p:cNvSpPr txBox="1"/>
          <p:nvPr/>
        </p:nvSpPr>
        <p:spPr>
          <a:xfrm>
            <a:off x="482264" y="522273"/>
            <a:ext cx="8351002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rPr lang="ru-RU" dirty="0"/>
              <a:t>Актуальность – Глобальный рынок фитнес-приложений стремительно растет и к </a:t>
            </a:r>
            <a:endParaRPr lang="en-US" dirty="0"/>
          </a:p>
          <a:p>
            <a:r>
              <a:rPr lang="ru-RU" dirty="0"/>
              <a:t>2034 году превысит $40 млрд, при этом концепция ИИ-сопровождения становится доминирующей</a:t>
            </a:r>
            <a:endParaRPr dirty="0"/>
          </a:p>
        </p:txBody>
      </p:sp>
      <p:sp>
        <p:nvSpPr>
          <p:cNvPr id="63" name="AutoShape 19"/>
          <p:cNvSpPr/>
          <p:nvPr/>
        </p:nvSpPr>
        <p:spPr>
          <a:xfrm>
            <a:off x="4891527" y="1528933"/>
            <a:ext cx="965876" cy="501754"/>
          </a:xfrm>
          <a:prstGeom prst="roundRect">
            <a:avLst>
              <a:gd name="adj" fmla="val 6097"/>
            </a:avLst>
          </a:prstGeom>
          <a:ln w="22225">
            <a:solidFill>
              <a:srgbClr val="FF6600"/>
            </a:solidFill>
          </a:ln>
        </p:spPr>
        <p:txBody>
          <a:bodyPr lIns="45719" rIns="45719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64" name="Овал"/>
          <p:cNvSpPr/>
          <p:nvPr/>
        </p:nvSpPr>
        <p:spPr>
          <a:xfrm>
            <a:off x="4895294" y="2397292"/>
            <a:ext cx="118921" cy="101696"/>
          </a:xfrm>
          <a:prstGeom prst="ellipse">
            <a:avLst/>
          </a:prstGeom>
          <a:solidFill>
            <a:srgbClr val="FF9300"/>
          </a:solidFill>
          <a:ln>
            <a:solidFill>
              <a:srgbClr val="FF93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5" name="Овал"/>
          <p:cNvSpPr/>
          <p:nvPr/>
        </p:nvSpPr>
        <p:spPr>
          <a:xfrm>
            <a:off x="4895294" y="2816760"/>
            <a:ext cx="118921" cy="101696"/>
          </a:xfrm>
          <a:prstGeom prst="ellipse">
            <a:avLst/>
          </a:prstGeom>
          <a:solidFill>
            <a:srgbClr val="FF9300"/>
          </a:solidFill>
          <a:ln>
            <a:solidFill>
              <a:srgbClr val="FF93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7" name="Овал"/>
          <p:cNvSpPr/>
          <p:nvPr/>
        </p:nvSpPr>
        <p:spPr>
          <a:xfrm>
            <a:off x="4887315" y="3464806"/>
            <a:ext cx="118921" cy="101696"/>
          </a:xfrm>
          <a:prstGeom prst="ellipse">
            <a:avLst/>
          </a:prstGeom>
          <a:solidFill>
            <a:srgbClr val="FF9300"/>
          </a:solidFill>
          <a:ln>
            <a:solidFill>
              <a:srgbClr val="FF93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8" name="Овал"/>
          <p:cNvSpPr/>
          <p:nvPr/>
        </p:nvSpPr>
        <p:spPr>
          <a:xfrm>
            <a:off x="4895294" y="3896582"/>
            <a:ext cx="118921" cy="101696"/>
          </a:xfrm>
          <a:prstGeom prst="ellipse">
            <a:avLst/>
          </a:prstGeom>
          <a:solidFill>
            <a:srgbClr val="FF9300"/>
          </a:solidFill>
          <a:ln>
            <a:solidFill>
              <a:srgbClr val="FF93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AutoShape 19">
            <a:extLst>
              <a:ext uri="{FF2B5EF4-FFF2-40B4-BE49-F238E27FC236}">
                <a16:creationId xmlns:a16="http://schemas.microsoft.com/office/drawing/2014/main" id="{24C3E721-F1B1-5194-FF62-22444ED1CE78}"/>
              </a:ext>
            </a:extLst>
          </p:cNvPr>
          <p:cNvSpPr/>
          <p:nvPr/>
        </p:nvSpPr>
        <p:spPr>
          <a:xfrm>
            <a:off x="580065" y="1528933"/>
            <a:ext cx="4045723" cy="1160479"/>
          </a:xfrm>
          <a:prstGeom prst="roundRect">
            <a:avLst>
              <a:gd name="adj" fmla="val 6097"/>
            </a:avLst>
          </a:prstGeom>
          <a:ln w="22225">
            <a:solidFill>
              <a:srgbClr val="FF6600"/>
            </a:solidFill>
          </a:ln>
        </p:spPr>
        <p:txBody>
          <a:bodyPr lIns="45719" rIns="45719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" name="AutoShape 16">
            <a:extLst>
              <a:ext uri="{FF2B5EF4-FFF2-40B4-BE49-F238E27FC236}">
                <a16:creationId xmlns:a16="http://schemas.microsoft.com/office/drawing/2014/main" id="{8F9E9894-5E89-2CE2-67F2-E4346310DD88}"/>
              </a:ext>
            </a:extLst>
          </p:cNvPr>
          <p:cNvSpPr/>
          <p:nvPr/>
        </p:nvSpPr>
        <p:spPr>
          <a:xfrm>
            <a:off x="316721" y="1662333"/>
            <a:ext cx="106221" cy="4184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42" y="0"/>
                </a:moveTo>
                <a:lnTo>
                  <a:pt x="5358" y="0"/>
                </a:lnTo>
                <a:cubicBezTo>
                  <a:pt x="2399" y="0"/>
                  <a:pt x="0" y="609"/>
                  <a:pt x="0" y="1360"/>
                </a:cubicBezTo>
                <a:lnTo>
                  <a:pt x="0" y="20240"/>
                </a:lnTo>
                <a:cubicBezTo>
                  <a:pt x="0" y="20991"/>
                  <a:pt x="2399" y="21600"/>
                  <a:pt x="5358" y="21600"/>
                </a:cubicBezTo>
                <a:lnTo>
                  <a:pt x="16242" y="21600"/>
                </a:lnTo>
                <a:cubicBezTo>
                  <a:pt x="19201" y="21600"/>
                  <a:pt x="21600" y="20991"/>
                  <a:pt x="21600" y="20240"/>
                </a:cubicBezTo>
                <a:lnTo>
                  <a:pt x="21600" y="1360"/>
                </a:lnTo>
                <a:cubicBezTo>
                  <a:pt x="21600" y="609"/>
                  <a:pt x="19201" y="0"/>
                  <a:pt x="16242" y="0"/>
                </a:cubicBezTo>
                <a:close/>
              </a:path>
            </a:pathLst>
          </a:custGeom>
          <a:solidFill>
            <a:srgbClr val="FF9400"/>
          </a:solidFill>
          <a:ln w="22225">
            <a:solidFill>
              <a:srgbClr val="FF6600"/>
            </a:solidFill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" name="Цель -">
            <a:extLst>
              <a:ext uri="{FF2B5EF4-FFF2-40B4-BE49-F238E27FC236}">
                <a16:creationId xmlns:a16="http://schemas.microsoft.com/office/drawing/2014/main" id="{60BA9316-1191-77CE-00EA-DFD610AF2B67}"/>
              </a:ext>
            </a:extLst>
          </p:cNvPr>
          <p:cNvSpPr txBox="1"/>
          <p:nvPr/>
        </p:nvSpPr>
        <p:spPr>
          <a:xfrm>
            <a:off x="688681" y="1617643"/>
            <a:ext cx="3614129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rPr lang="ru-RU" dirty="0"/>
              <a:t>Проблема – Фрагментация инструментов </a:t>
            </a:r>
            <a:endParaRPr lang="en-US" dirty="0"/>
          </a:p>
          <a:p>
            <a:r>
              <a:rPr lang="ru-RU" dirty="0"/>
              <a:t>на рынке. Пользователю приходится </a:t>
            </a:r>
            <a:endParaRPr lang="en-US" dirty="0"/>
          </a:p>
          <a:p>
            <a:r>
              <a:rPr lang="ru-RU" dirty="0"/>
              <a:t>использовать 3-4 разных приложения </a:t>
            </a:r>
            <a:endParaRPr lang="en-US" dirty="0"/>
          </a:p>
          <a:p>
            <a:r>
              <a:rPr lang="ru-RU" dirty="0"/>
              <a:t>(для планов, трекинга, питания).</a:t>
            </a:r>
            <a:endParaRPr dirty="0"/>
          </a:p>
        </p:txBody>
      </p:sp>
      <p:sp>
        <p:nvSpPr>
          <p:cNvPr id="6" name="Цель -">
            <a:extLst>
              <a:ext uri="{FF2B5EF4-FFF2-40B4-BE49-F238E27FC236}">
                <a16:creationId xmlns:a16="http://schemas.microsoft.com/office/drawing/2014/main" id="{0C04B761-FC8E-7050-083C-490AF7F195EA}"/>
              </a:ext>
            </a:extLst>
          </p:cNvPr>
          <p:cNvSpPr txBox="1"/>
          <p:nvPr/>
        </p:nvSpPr>
        <p:spPr>
          <a:xfrm>
            <a:off x="5117177" y="2298683"/>
            <a:ext cx="3955568" cy="2246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ru-RU" dirty="0"/>
              <a:t>Генерация персонализированных планов тренировок</a:t>
            </a:r>
          </a:p>
          <a:p>
            <a:r>
              <a:rPr lang="ru-RU" dirty="0"/>
              <a:t>Автоматическая адаптация рабочих весов</a:t>
            </a:r>
          </a:p>
          <a:p>
            <a:r>
              <a:rPr lang="ru-RU" dirty="0"/>
              <a:t>Внедрение ИИ-тренера</a:t>
            </a:r>
            <a:endParaRPr lang="en-US" dirty="0"/>
          </a:p>
          <a:p>
            <a:r>
              <a:rPr lang="ru-RU" dirty="0"/>
              <a:t>Учет питания (КБЖУ)</a:t>
            </a:r>
          </a:p>
          <a:p>
            <a:r>
              <a:rPr lang="ru-RU" dirty="0"/>
              <a:t>Внедрение заметок и авторизации пользователя</a:t>
            </a:r>
            <a:endParaRPr lang="en-US" dirty="0"/>
          </a:p>
          <a:p>
            <a:r>
              <a:rPr lang="ru-RU" dirty="0"/>
              <a:t>Оформление документации и дальнейшего плана развития</a:t>
            </a:r>
          </a:p>
          <a:p>
            <a:endParaRPr lang="ru-RU" dirty="0"/>
          </a:p>
        </p:txBody>
      </p:sp>
      <p:sp>
        <p:nvSpPr>
          <p:cNvPr id="5" name="Овал">
            <a:extLst>
              <a:ext uri="{FF2B5EF4-FFF2-40B4-BE49-F238E27FC236}">
                <a16:creationId xmlns:a16="http://schemas.microsoft.com/office/drawing/2014/main" id="{216FA994-B108-C6FC-E61C-EB9ACB0D7A4C}"/>
              </a:ext>
            </a:extLst>
          </p:cNvPr>
          <p:cNvSpPr/>
          <p:nvPr/>
        </p:nvSpPr>
        <p:spPr>
          <a:xfrm>
            <a:off x="4891527" y="3026494"/>
            <a:ext cx="118921" cy="101696"/>
          </a:xfrm>
          <a:prstGeom prst="ellipse">
            <a:avLst/>
          </a:prstGeom>
          <a:solidFill>
            <a:srgbClr val="FF9300"/>
          </a:solidFill>
          <a:ln>
            <a:solidFill>
              <a:srgbClr val="FF93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Овал">
            <a:extLst>
              <a:ext uri="{FF2B5EF4-FFF2-40B4-BE49-F238E27FC236}">
                <a16:creationId xmlns:a16="http://schemas.microsoft.com/office/drawing/2014/main" id="{0DCDF611-16C3-D000-F1E6-6D5C2D4A8E1B}"/>
              </a:ext>
            </a:extLst>
          </p:cNvPr>
          <p:cNvSpPr/>
          <p:nvPr/>
        </p:nvSpPr>
        <p:spPr>
          <a:xfrm>
            <a:off x="4890625" y="3248536"/>
            <a:ext cx="118921" cy="101696"/>
          </a:xfrm>
          <a:prstGeom prst="ellipse">
            <a:avLst/>
          </a:prstGeom>
          <a:solidFill>
            <a:srgbClr val="FF9300"/>
          </a:solidFill>
          <a:ln>
            <a:solidFill>
              <a:srgbClr val="FF93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Номер слайда 6"/>
          <p:cNvSpPr txBox="1">
            <a:spLocks noGrp="1"/>
          </p:cNvSpPr>
          <p:nvPr>
            <p:ph type="sldNum" sz="quarter" idx="2"/>
          </p:nvPr>
        </p:nvSpPr>
        <p:spPr>
          <a:xfrm>
            <a:off x="8990155" y="4966249"/>
            <a:ext cx="128446" cy="1858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r"/>
          </a:lstStyle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73" name="Заголовок 1"/>
          <p:cNvSpPr txBox="1">
            <a:spLocks noGrp="1"/>
          </p:cNvSpPr>
          <p:nvPr>
            <p:ph type="title"/>
          </p:nvPr>
        </p:nvSpPr>
        <p:spPr>
          <a:xfrm>
            <a:off x="229749" y="115957"/>
            <a:ext cx="7149557" cy="4407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ru-RU" sz="2000" dirty="0"/>
              <a:t>Обзор существующих решений </a:t>
            </a:r>
            <a:endParaRPr sz="2000" dirty="0"/>
          </a:p>
        </p:txBody>
      </p:sp>
      <p:sp>
        <p:nvSpPr>
          <p:cNvPr id="108" name="Прямоугольник: скругленные углы 24"/>
          <p:cNvSpPr/>
          <p:nvPr/>
        </p:nvSpPr>
        <p:spPr>
          <a:xfrm>
            <a:off x="4856696" y="1442590"/>
            <a:ext cx="3406329" cy="1595734"/>
          </a:xfrm>
          <a:prstGeom prst="roundRect">
            <a:avLst>
              <a:gd name="adj" fmla="val 16667"/>
            </a:avLst>
          </a:prstGeom>
          <a:ln w="15875">
            <a:solidFill>
              <a:srgbClr val="FF94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B8E1F04-0AFC-7EAD-D098-57CD1ACEE96E}"/>
              </a:ext>
            </a:extLst>
          </p:cNvPr>
          <p:cNvSpPr txBox="1">
            <a:spLocks/>
          </p:cNvSpPr>
          <p:nvPr/>
        </p:nvSpPr>
        <p:spPr>
          <a:xfrm>
            <a:off x="1203214" y="780352"/>
            <a:ext cx="2874416" cy="44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25" tIns="19025" rIns="19025" bIns="19025">
            <a:noAutofit/>
          </a:bodyPr>
          <a:lstStyle>
            <a:lvl1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pPr hangingPunct="1"/>
            <a:r>
              <a:rPr lang="ru-RU" sz="2000" dirty="0"/>
              <a:t>Недостатки аналогов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3D07206-5C49-6CE6-993D-5D89BE0BCEF9}"/>
              </a:ext>
            </a:extLst>
          </p:cNvPr>
          <p:cNvSpPr txBox="1">
            <a:spLocks/>
          </p:cNvSpPr>
          <p:nvPr/>
        </p:nvSpPr>
        <p:spPr>
          <a:xfrm>
            <a:off x="4821283" y="780352"/>
            <a:ext cx="3477157" cy="44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25" tIns="19025" rIns="19025" bIns="19025">
            <a:noAutofit/>
          </a:bodyPr>
          <a:lstStyle>
            <a:lvl1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0" marR="0" indent="0" algn="l" defTabSz="914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FF94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pPr hangingPunct="1"/>
            <a:r>
              <a:rPr lang="ru-RU" sz="2000" dirty="0"/>
              <a:t>Новизна проекта</a:t>
            </a:r>
          </a:p>
        </p:txBody>
      </p:sp>
      <p:sp>
        <p:nvSpPr>
          <p:cNvPr id="6" name="Прямоугольник: скругленные углы 24">
            <a:extLst>
              <a:ext uri="{FF2B5EF4-FFF2-40B4-BE49-F238E27FC236}">
                <a16:creationId xmlns:a16="http://schemas.microsoft.com/office/drawing/2014/main" id="{8BA631BB-F916-DE6A-5487-B76DCAD17846}"/>
              </a:ext>
            </a:extLst>
          </p:cNvPr>
          <p:cNvSpPr/>
          <p:nvPr/>
        </p:nvSpPr>
        <p:spPr>
          <a:xfrm>
            <a:off x="982018" y="1442590"/>
            <a:ext cx="3204242" cy="910659"/>
          </a:xfrm>
          <a:prstGeom prst="roundRect">
            <a:avLst>
              <a:gd name="adj" fmla="val 16667"/>
            </a:avLst>
          </a:prstGeom>
          <a:ln w="15875">
            <a:solidFill>
              <a:srgbClr val="FF94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Прямоугольник: скругленные углы 25">
            <a:extLst>
              <a:ext uri="{FF2B5EF4-FFF2-40B4-BE49-F238E27FC236}">
                <a16:creationId xmlns:a16="http://schemas.microsoft.com/office/drawing/2014/main" id="{4D301FEE-D9E7-E931-792F-CBADCF6F96A9}"/>
              </a:ext>
            </a:extLst>
          </p:cNvPr>
          <p:cNvSpPr/>
          <p:nvPr/>
        </p:nvSpPr>
        <p:spPr>
          <a:xfrm>
            <a:off x="982017" y="2576542"/>
            <a:ext cx="3204241" cy="910659"/>
          </a:xfrm>
          <a:prstGeom prst="roundRect">
            <a:avLst>
              <a:gd name="adj" fmla="val 16667"/>
            </a:avLst>
          </a:prstGeom>
          <a:ln w="15875">
            <a:solidFill>
              <a:srgbClr val="FF94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Прямоугольник: скругленные углы 26">
            <a:extLst>
              <a:ext uri="{FF2B5EF4-FFF2-40B4-BE49-F238E27FC236}">
                <a16:creationId xmlns:a16="http://schemas.microsoft.com/office/drawing/2014/main" id="{0F140692-F17F-A2CB-BE65-6BC67EF9BC98}"/>
              </a:ext>
            </a:extLst>
          </p:cNvPr>
          <p:cNvSpPr/>
          <p:nvPr/>
        </p:nvSpPr>
        <p:spPr>
          <a:xfrm>
            <a:off x="982017" y="3759797"/>
            <a:ext cx="3204241" cy="910659"/>
          </a:xfrm>
          <a:prstGeom prst="roundRect">
            <a:avLst>
              <a:gd name="adj" fmla="val 16667"/>
            </a:avLst>
          </a:prstGeom>
          <a:ln w="15875">
            <a:solidFill>
              <a:srgbClr val="FF94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Цель -">
            <a:extLst>
              <a:ext uri="{FF2B5EF4-FFF2-40B4-BE49-F238E27FC236}">
                <a16:creationId xmlns:a16="http://schemas.microsoft.com/office/drawing/2014/main" id="{5A160F1B-9AD2-23D9-67AA-696A41B9C986}"/>
              </a:ext>
            </a:extLst>
          </p:cNvPr>
          <p:cNvSpPr txBox="1"/>
          <p:nvPr/>
        </p:nvSpPr>
        <p:spPr>
          <a:xfrm>
            <a:off x="1065198" y="1528587"/>
            <a:ext cx="3204243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ru-RU" dirty="0"/>
              <a:t>Узкая специализация. Ни одно из них не образует единой экосистемы.</a:t>
            </a:r>
          </a:p>
        </p:txBody>
      </p:sp>
      <p:sp>
        <p:nvSpPr>
          <p:cNvPr id="10" name="Цель -">
            <a:extLst>
              <a:ext uri="{FF2B5EF4-FFF2-40B4-BE49-F238E27FC236}">
                <a16:creationId xmlns:a16="http://schemas.microsoft.com/office/drawing/2014/main" id="{0E1074FD-A6A5-DAD5-B25F-DB13A8689E4C}"/>
              </a:ext>
            </a:extLst>
          </p:cNvPr>
          <p:cNvSpPr txBox="1"/>
          <p:nvPr/>
        </p:nvSpPr>
        <p:spPr>
          <a:xfrm>
            <a:off x="1038301" y="2662539"/>
            <a:ext cx="3204243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ru-RU" dirty="0"/>
              <a:t>Сложный для новичка интерфейс и излишний функционал</a:t>
            </a:r>
          </a:p>
        </p:txBody>
      </p:sp>
      <p:sp>
        <p:nvSpPr>
          <p:cNvPr id="11" name="Цель -">
            <a:extLst>
              <a:ext uri="{FF2B5EF4-FFF2-40B4-BE49-F238E27FC236}">
                <a16:creationId xmlns:a16="http://schemas.microsoft.com/office/drawing/2014/main" id="{0D41628C-CA3A-6D0A-D6E3-7D536B875090}"/>
              </a:ext>
            </a:extLst>
          </p:cNvPr>
          <p:cNvSpPr txBox="1"/>
          <p:nvPr/>
        </p:nvSpPr>
        <p:spPr>
          <a:xfrm>
            <a:off x="1165395" y="3843500"/>
            <a:ext cx="2837483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ru-RU" dirty="0"/>
              <a:t>Отсутствие контекстно-зависимого, глубоко интегрированного ИИ-тренера</a:t>
            </a:r>
          </a:p>
        </p:txBody>
      </p:sp>
      <p:sp>
        <p:nvSpPr>
          <p:cNvPr id="12" name="Цель -">
            <a:extLst>
              <a:ext uri="{FF2B5EF4-FFF2-40B4-BE49-F238E27FC236}">
                <a16:creationId xmlns:a16="http://schemas.microsoft.com/office/drawing/2014/main" id="{A55797D3-FE75-4D97-FC7D-09CC44728449}"/>
              </a:ext>
            </a:extLst>
          </p:cNvPr>
          <p:cNvSpPr txBox="1"/>
          <p:nvPr/>
        </p:nvSpPr>
        <p:spPr>
          <a:xfrm>
            <a:off x="4912980" y="1547959"/>
            <a:ext cx="3323148" cy="1384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ru-RU" dirty="0"/>
              <a:t>Платформа объединяет генеративный ИИ, полноценный учет питания и интеллектуальный чат, выступая единым «фитнес-тренером в кармане», избавляя от необходимости переключаться между приложениями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Номер слайда 6"/>
          <p:cNvSpPr txBox="1">
            <a:spLocks noGrp="1"/>
          </p:cNvSpPr>
          <p:nvPr>
            <p:ph type="sldNum" sz="quarter" idx="2"/>
          </p:nvPr>
        </p:nvSpPr>
        <p:spPr>
          <a:xfrm>
            <a:off x="8990155" y="4966249"/>
            <a:ext cx="128446" cy="1858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r"/>
          </a:lstStyle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116" name="Заголовок 1"/>
          <p:cNvSpPr txBox="1">
            <a:spLocks noGrp="1"/>
          </p:cNvSpPr>
          <p:nvPr>
            <p:ph type="title"/>
          </p:nvPr>
        </p:nvSpPr>
        <p:spPr>
          <a:xfrm>
            <a:off x="229749" y="115957"/>
            <a:ext cx="7149557" cy="4407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ru-RU" dirty="0"/>
              <a:t>Общая архитектура решения. Использованные технологии</a:t>
            </a:r>
            <a:endParaRPr dirty="0"/>
          </a:p>
        </p:txBody>
      </p:sp>
      <p:sp>
        <p:nvSpPr>
          <p:cNvPr id="117" name="TextBox 3"/>
          <p:cNvSpPr txBox="1"/>
          <p:nvPr/>
        </p:nvSpPr>
        <p:spPr>
          <a:xfrm>
            <a:off x="1364510" y="1370765"/>
            <a:ext cx="5822078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NeverMind"/>
                <a:ea typeface="NeverMind"/>
                <a:cs typeface="NeverMind"/>
                <a:sym typeface="NeverMind"/>
              </a:defRPr>
            </a:lvl1pPr>
          </a:lstStyle>
          <a:p>
            <a:r>
              <a:rPr lang="en-US"/>
              <a:t>Frontend: Vue 3, Ionic Vue, Capacitor (</a:t>
            </a:r>
            <a:r>
              <a:rPr lang="ru-RU"/>
              <a:t>кроссплатформенность для </a:t>
            </a:r>
            <a:r>
              <a:rPr lang="en-US"/>
              <a:t>iOS, Android, Web)</a:t>
            </a:r>
            <a:endParaRPr lang="ru-RU" dirty="0">
              <a:latin typeface="+mj-lt"/>
            </a:endParaRPr>
          </a:p>
        </p:txBody>
      </p:sp>
      <p:sp>
        <p:nvSpPr>
          <p:cNvPr id="118" name="Овал 4"/>
          <p:cNvSpPr/>
          <p:nvPr/>
        </p:nvSpPr>
        <p:spPr>
          <a:xfrm>
            <a:off x="361839" y="1189606"/>
            <a:ext cx="799731" cy="7963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94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b="1"/>
            </a:lvl1pPr>
          </a:lstStyle>
          <a:p>
            <a:r>
              <a:t>1</a:t>
            </a:r>
          </a:p>
        </p:txBody>
      </p:sp>
      <p:sp>
        <p:nvSpPr>
          <p:cNvPr id="119" name="Овал 4"/>
          <p:cNvSpPr/>
          <p:nvPr/>
        </p:nvSpPr>
        <p:spPr>
          <a:xfrm>
            <a:off x="1364510" y="2531798"/>
            <a:ext cx="799731" cy="79639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9400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>
            <a:lvl1pPr algn="ctr">
              <a:defRPr b="1"/>
            </a:lvl1pPr>
          </a:lstStyle>
          <a:p>
            <a:r>
              <a:t>2</a:t>
            </a:r>
          </a:p>
        </p:txBody>
      </p:sp>
      <p:grpSp>
        <p:nvGrpSpPr>
          <p:cNvPr id="122" name="Овал 4"/>
          <p:cNvGrpSpPr/>
          <p:nvPr/>
        </p:nvGrpSpPr>
        <p:grpSpPr>
          <a:xfrm>
            <a:off x="2367180" y="3838865"/>
            <a:ext cx="799731" cy="796395"/>
            <a:chOff x="0" y="0"/>
            <a:chExt cx="799730" cy="796394"/>
          </a:xfrm>
        </p:grpSpPr>
        <p:sp>
          <p:nvSpPr>
            <p:cNvPr id="120" name="Кружок"/>
            <p:cNvSpPr/>
            <p:nvPr/>
          </p:nvSpPr>
          <p:spPr>
            <a:xfrm>
              <a:off x="-1" y="-1"/>
              <a:ext cx="799732" cy="796396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rgbClr val="FF94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/>
              </a:pPr>
              <a:endParaRPr/>
            </a:p>
          </p:txBody>
        </p:sp>
        <p:sp>
          <p:nvSpPr>
            <p:cNvPr id="121" name="3"/>
            <p:cNvSpPr txBox="1"/>
            <p:nvPr/>
          </p:nvSpPr>
          <p:spPr>
            <a:xfrm>
              <a:off x="175538" y="253785"/>
              <a:ext cx="448653" cy="2888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/>
              </a:lvl1pPr>
            </a:lstStyle>
            <a:p>
              <a:r>
                <a:t>3</a:t>
              </a:r>
            </a:p>
          </p:txBody>
        </p:sp>
      </p:grpSp>
      <p:sp>
        <p:nvSpPr>
          <p:cNvPr id="3" name="TextBox 3">
            <a:extLst>
              <a:ext uri="{FF2B5EF4-FFF2-40B4-BE49-F238E27FC236}">
                <a16:creationId xmlns:a16="http://schemas.microsoft.com/office/drawing/2014/main" id="{BB13C276-670B-EE06-A302-7D9EB4F085B6}"/>
              </a:ext>
            </a:extLst>
          </p:cNvPr>
          <p:cNvSpPr txBox="1"/>
          <p:nvPr/>
        </p:nvSpPr>
        <p:spPr>
          <a:xfrm>
            <a:off x="2367179" y="2583731"/>
            <a:ext cx="5378325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NeverMind"/>
                <a:ea typeface="NeverMind"/>
                <a:cs typeface="NeverMind"/>
                <a:sym typeface="NeverMind"/>
              </a:defRPr>
            </a:lvl1pPr>
          </a:lstStyle>
          <a:p>
            <a:r>
              <a:rPr lang="ru-RU" dirty="0" err="1"/>
              <a:t>Backend</a:t>
            </a:r>
            <a:r>
              <a:rPr lang="ru-RU" dirty="0"/>
              <a:t>: Язык Go </a:t>
            </a:r>
            <a:br>
              <a:rPr lang="ru-RU" dirty="0"/>
            </a:br>
            <a:r>
              <a:rPr lang="ru-RU" dirty="0" err="1"/>
              <a:t>Chi</a:t>
            </a:r>
            <a:r>
              <a:rPr lang="ru-RU" dirty="0"/>
              <a:t> </a:t>
            </a:r>
            <a:r>
              <a:rPr lang="ru-RU" dirty="0" err="1"/>
              <a:t>Router</a:t>
            </a:r>
            <a:r>
              <a:rPr lang="ru-RU" dirty="0"/>
              <a:t> для создания высокопроизводительного API </a:t>
            </a:r>
            <a:endParaRPr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16EE17-132D-6FCE-186D-C75C76391030}"/>
              </a:ext>
            </a:extLst>
          </p:cNvPr>
          <p:cNvSpPr txBox="1"/>
          <p:nvPr/>
        </p:nvSpPr>
        <p:spPr>
          <a:xfrm>
            <a:off x="3369850" y="3796698"/>
            <a:ext cx="4119052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NeverMind"/>
                <a:ea typeface="NeverMind"/>
                <a:cs typeface="NeverMind"/>
                <a:sym typeface="NeverMind"/>
              </a:defRPr>
            </a:lvl1pPr>
          </a:lstStyle>
          <a:p>
            <a:r>
              <a:rPr lang="en-US" dirty="0"/>
              <a:t>AI Service: Python</a:t>
            </a:r>
            <a:br>
              <a:rPr lang="en-US" dirty="0"/>
            </a:br>
            <a:r>
              <a:rPr lang="en-US" dirty="0"/>
              <a:t>Database: PostgreSQL</a:t>
            </a:r>
            <a:br>
              <a:rPr lang="en-US" dirty="0"/>
            </a:br>
            <a:r>
              <a:rPr lang="en-US" dirty="0"/>
              <a:t>Docker Compose </a:t>
            </a:r>
            <a:r>
              <a:rPr lang="ru-RU" dirty="0"/>
              <a:t>для изоляции и </a:t>
            </a:r>
            <a:r>
              <a:rPr lang="ru-RU" dirty="0" err="1"/>
              <a:t>оркестрации</a:t>
            </a:r>
            <a:r>
              <a:rPr lang="ru-RU" dirty="0"/>
              <a:t> контейнеров</a:t>
            </a:r>
            <a:endParaRPr dirty="0">
              <a:latin typeface="+mj-lt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F7C2543-6FD7-8E7D-C105-DB5178450F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7"/>
          <a:stretch>
            <a:fillRect/>
          </a:stretch>
        </p:blipFill>
        <p:spPr>
          <a:xfrm>
            <a:off x="3769409" y="1687088"/>
            <a:ext cx="1286933" cy="41379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FAD6D3E-357A-AD43-3946-D2F8D5940E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013"/>
          <a:stretch>
            <a:fillRect/>
          </a:stretch>
        </p:blipFill>
        <p:spPr>
          <a:xfrm>
            <a:off x="6899767" y="2618492"/>
            <a:ext cx="959078" cy="48845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D07EC70-DBFD-A739-EDFF-29E3330F3C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7530" y="3681459"/>
            <a:ext cx="1562767" cy="10096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Номер слайда 6"/>
          <p:cNvSpPr txBox="1">
            <a:spLocks noGrp="1"/>
          </p:cNvSpPr>
          <p:nvPr>
            <p:ph type="sldNum" sz="quarter" idx="2"/>
          </p:nvPr>
        </p:nvSpPr>
        <p:spPr>
          <a:xfrm>
            <a:off x="8990155" y="4966249"/>
            <a:ext cx="128445" cy="1858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r"/>
          </a:lstStyle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30" name="Заголовок 1"/>
          <p:cNvSpPr txBox="1">
            <a:spLocks noGrp="1"/>
          </p:cNvSpPr>
          <p:nvPr>
            <p:ph type="title"/>
          </p:nvPr>
        </p:nvSpPr>
        <p:spPr>
          <a:xfrm>
            <a:off x="229749" y="115956"/>
            <a:ext cx="7149557" cy="44070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Бэкенд, </a:t>
            </a:r>
            <a:r>
              <a:rPr lang="ru-RU" dirty="0" err="1"/>
              <a:t>доккер</a:t>
            </a:r>
            <a:r>
              <a:rPr lang="ru-RU" dirty="0"/>
              <a:t> и БД</a:t>
            </a:r>
            <a:endParaRPr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9984E25-1A47-EC4B-CB8C-18BCB85885C0}"/>
              </a:ext>
            </a:extLst>
          </p:cNvPr>
          <p:cNvSpPr txBox="1"/>
          <p:nvPr/>
        </p:nvSpPr>
        <p:spPr>
          <a:xfrm>
            <a:off x="356846" y="1231785"/>
            <a:ext cx="3153464" cy="3539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NeverMind"/>
                <a:ea typeface="NeverMind"/>
                <a:cs typeface="NeverMind"/>
                <a:sym typeface="NeverMind"/>
              </a:defRPr>
            </a:lvl1pPr>
          </a:lstStyle>
          <a:p>
            <a:r>
              <a:rPr lang="ru-RU" dirty="0"/>
              <a:t>Безопасность: Авторизация по JWT токенам (HS256), надежное хеширование </a:t>
            </a:r>
            <a:r>
              <a:rPr lang="ru-RU" dirty="0" err="1"/>
              <a:t>Bcrypt</a:t>
            </a:r>
            <a:r>
              <a:rPr lang="ru-RU" dirty="0"/>
              <a:t> и защита от DDOS. 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СУБД </a:t>
            </a:r>
            <a:r>
              <a:rPr lang="ru-RU" dirty="0" err="1"/>
              <a:t>PostgreSQL</a:t>
            </a:r>
            <a:r>
              <a:rPr lang="ru-RU" dirty="0"/>
              <a:t> 16: 16 таблиц, индексация UUID 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Конкурентность: Оптимистический контроль конкурентности (OCC) для полной защиты данных от коллизий. 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Контейнеризация: </a:t>
            </a:r>
            <a:r>
              <a:rPr lang="ru-RU" dirty="0" err="1"/>
              <a:t>Оркестрация</a:t>
            </a:r>
            <a:r>
              <a:rPr lang="ru-RU" dirty="0"/>
              <a:t> через </a:t>
            </a:r>
            <a:r>
              <a:rPr lang="ru-RU" dirty="0" err="1"/>
              <a:t>Docker</a:t>
            </a:r>
            <a:r>
              <a:rPr lang="ru-RU" dirty="0"/>
              <a:t> </a:t>
            </a:r>
            <a:r>
              <a:rPr lang="ru-RU" dirty="0" err="1"/>
              <a:t>Compose</a:t>
            </a:r>
            <a:r>
              <a:rPr lang="ru-RU" dirty="0"/>
              <a:t>. Разделение тяжелых ИИ-вычислений от основного Go-API. </a:t>
            </a:r>
            <a:br>
              <a:rPr lang="ru-RU" dirty="0"/>
            </a:br>
            <a:br>
              <a:rPr lang="ru-RU" dirty="0"/>
            </a:br>
            <a:endParaRPr lang="ru-RU" dirty="0">
              <a:latin typeface="+mj-l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DB8592-DEF0-0629-1552-33CFFE602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692" y="490772"/>
            <a:ext cx="1578049" cy="806899"/>
          </a:xfrm>
          <a:prstGeom prst="rect">
            <a:avLst/>
          </a:prstGeom>
        </p:spPr>
      </p:pic>
      <p:pic>
        <p:nvPicPr>
          <p:cNvPr id="8" name="Рисунок 7" descr="Установка актуальной версии Docker - UltraVDS blog">
            <a:extLst>
              <a:ext uri="{FF2B5EF4-FFF2-40B4-BE49-F238E27FC236}">
                <a16:creationId xmlns:a16="http://schemas.microsoft.com/office/drawing/2014/main" id="{34097F33-D1BD-ED4C-41C5-B71FAE699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196" y="3917965"/>
            <a:ext cx="2430992" cy="97514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795A239-D865-31F0-F4AD-524930A98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6603" y="1601107"/>
            <a:ext cx="5383552" cy="231685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5A2B1-EA73-1180-9BC2-2C4410427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Номер слайда 6">
            <a:extLst>
              <a:ext uri="{FF2B5EF4-FFF2-40B4-BE49-F238E27FC236}">
                <a16:creationId xmlns:a16="http://schemas.microsoft.com/office/drawing/2014/main" id="{2284D857-1EBC-3182-BF42-9A96767999D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990155" y="4966249"/>
            <a:ext cx="128445" cy="1858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r"/>
          </a:lstStyle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30" name="Заголовок 1">
            <a:extLst>
              <a:ext uri="{FF2B5EF4-FFF2-40B4-BE49-F238E27FC236}">
                <a16:creationId xmlns:a16="http://schemas.microsoft.com/office/drawing/2014/main" id="{1508D803-8DF2-FE33-92BE-117C6324C6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9749" y="115956"/>
            <a:ext cx="7149557" cy="44070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Описание сервиса тренировок</a:t>
            </a:r>
            <a:endParaRPr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AADFBD0A-5DDF-14E1-F0AE-44377E77C953}"/>
              </a:ext>
            </a:extLst>
          </p:cNvPr>
          <p:cNvSpPr txBox="1"/>
          <p:nvPr/>
        </p:nvSpPr>
        <p:spPr>
          <a:xfrm>
            <a:off x="0" y="4381213"/>
            <a:ext cx="553726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NeverMind"/>
                <a:ea typeface="NeverMind"/>
                <a:cs typeface="NeverMind"/>
                <a:sym typeface="NeverMind"/>
              </a:defRPr>
            </a:lvl1pPr>
          </a:lstStyle>
          <a:p>
            <a:pPr algn="ctr"/>
            <a:r>
              <a:rPr lang="ru-RU" sz="1800" dirty="0"/>
              <a:t>Концепция «минимум кликов»</a:t>
            </a:r>
            <a:br>
              <a:rPr lang="ru-RU" sz="1800" dirty="0"/>
            </a:br>
            <a:r>
              <a:rPr lang="en-US" sz="1800" dirty="0"/>
              <a:t>Offline-first</a:t>
            </a:r>
            <a:endParaRPr lang="ru-RU" sz="1800" dirty="0">
              <a:latin typeface="+mj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C95E991-4B1B-8997-5E74-99192E40D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23" y="1142954"/>
            <a:ext cx="4221177" cy="296572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43E6773-9B90-76D2-7651-639F6D32A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556657"/>
            <a:ext cx="4381440" cy="334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4837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E239E-CD71-EBC2-9F4E-7CCC8585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Номер слайда 6">
            <a:extLst>
              <a:ext uri="{FF2B5EF4-FFF2-40B4-BE49-F238E27FC236}">
                <a16:creationId xmlns:a16="http://schemas.microsoft.com/office/drawing/2014/main" id="{F74DBAF8-29D4-75C4-04FF-2619157077F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990155" y="4966249"/>
            <a:ext cx="128445" cy="1858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r"/>
          </a:lstStyle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30" name="Заголовок 1">
            <a:extLst>
              <a:ext uri="{FF2B5EF4-FFF2-40B4-BE49-F238E27FC236}">
                <a16:creationId xmlns:a16="http://schemas.microsoft.com/office/drawing/2014/main" id="{43A0A553-28B7-189D-1B94-AFE7C41951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9749" y="115956"/>
            <a:ext cx="7149557" cy="4407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/>
              <a:t>Сервис питания</a:t>
            </a:r>
            <a:endParaRPr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BD8903E8-2368-FC25-4D3A-399CA19E16FD}"/>
              </a:ext>
            </a:extLst>
          </p:cNvPr>
          <p:cNvSpPr txBox="1"/>
          <p:nvPr/>
        </p:nvSpPr>
        <p:spPr>
          <a:xfrm>
            <a:off x="5943618" y="2571750"/>
            <a:ext cx="2870962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NeverMind"/>
                <a:ea typeface="NeverMind"/>
                <a:cs typeface="NeverMind"/>
                <a:sym typeface="NeverMind"/>
              </a:defRPr>
            </a:lvl1pPr>
          </a:lstStyle>
          <a:p>
            <a:pPr algn="ctr"/>
            <a:br>
              <a:rPr lang="ru-RU" sz="1600" dirty="0"/>
            </a:br>
            <a:r>
              <a:rPr lang="ru-RU" sz="1600" dirty="0"/>
              <a:t>Расчет калорийности: формулы </a:t>
            </a:r>
            <a:r>
              <a:rPr lang="ru-RU" sz="1600" dirty="0" err="1"/>
              <a:t>Миффлина</a:t>
            </a:r>
            <a:r>
              <a:rPr lang="ru-RU" sz="1600" dirty="0"/>
              <a:t>-Сан </a:t>
            </a:r>
            <a:r>
              <a:rPr lang="ru-RU" sz="1600" dirty="0" err="1"/>
              <a:t>Жеора</a:t>
            </a:r>
            <a:r>
              <a:rPr lang="ru-RU" sz="1600" dirty="0"/>
              <a:t> и Харриса-Бенедикта на основе антропометрии пользователя</a:t>
            </a:r>
          </a:p>
          <a:p>
            <a:pPr algn="ctr"/>
            <a:br>
              <a:rPr lang="ru-RU" sz="1600" dirty="0"/>
            </a:br>
            <a:r>
              <a:rPr lang="ru-RU" sz="1600" dirty="0"/>
              <a:t>База (BMR) × Активность ± Цель</a:t>
            </a:r>
            <a:endParaRPr lang="ru-RU" sz="1600" dirty="0">
              <a:latin typeface="+mj-l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C9A9F0-4847-97CB-78C9-07CEC1484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20" y="735089"/>
            <a:ext cx="5495647" cy="406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26052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01298-88CF-1084-EA14-9B9F26366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Номер слайда 6">
            <a:extLst>
              <a:ext uri="{FF2B5EF4-FFF2-40B4-BE49-F238E27FC236}">
                <a16:creationId xmlns:a16="http://schemas.microsoft.com/office/drawing/2014/main" id="{B6E41ECF-4F7E-FF06-E4A0-2FE8B04670D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990155" y="4966249"/>
            <a:ext cx="128445" cy="1858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r"/>
          </a:lstStyle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30" name="Заголовок 1">
            <a:extLst>
              <a:ext uri="{FF2B5EF4-FFF2-40B4-BE49-F238E27FC236}">
                <a16:creationId xmlns:a16="http://schemas.microsoft.com/office/drawing/2014/main" id="{AA2E11AD-7F46-0635-83B1-0A450F549D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9749" y="115956"/>
            <a:ext cx="7149557" cy="44070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AI модель и AI чат</a:t>
            </a:r>
            <a:endParaRPr dirty="0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68DA3F19-988E-8754-02E1-3CDC553ADBCB}"/>
              </a:ext>
            </a:extLst>
          </p:cNvPr>
          <p:cNvSpPr txBox="1"/>
          <p:nvPr/>
        </p:nvSpPr>
        <p:spPr>
          <a:xfrm>
            <a:off x="5240453" y="2842684"/>
            <a:ext cx="3983257" cy="156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NeverMind"/>
                <a:ea typeface="NeverMind"/>
                <a:cs typeface="NeverMind"/>
                <a:sym typeface="NeverMind"/>
              </a:defRPr>
            </a:lvl1pPr>
          </a:lstStyle>
          <a:p>
            <a:r>
              <a:rPr lang="ru-RU" sz="1600" dirty="0" err="1"/>
              <a:t>CatBoost</a:t>
            </a:r>
            <a:r>
              <a:rPr lang="ru-RU" sz="1600" dirty="0"/>
              <a:t> </a:t>
            </a:r>
            <a:r>
              <a:rPr lang="ru-RU" sz="1600" dirty="0" err="1"/>
              <a:t>Classifier</a:t>
            </a:r>
            <a:r>
              <a:rPr lang="ru-RU" sz="1600" dirty="0"/>
              <a:t> (Генерация сплитов) </a:t>
            </a:r>
            <a:br>
              <a:rPr lang="ru-RU" sz="1600" dirty="0"/>
            </a:br>
            <a:br>
              <a:rPr lang="ru-RU" sz="1600" dirty="0"/>
            </a:br>
            <a:r>
              <a:rPr lang="ru-RU" sz="1600" dirty="0"/>
              <a:t>Чат-бот и RAG-архитектура: на базе LLM </a:t>
            </a:r>
            <a:r>
              <a:rPr lang="ru-RU" sz="1600" dirty="0" err="1"/>
              <a:t>Llama</a:t>
            </a:r>
            <a:r>
              <a:rPr lang="ru-RU" sz="1600" dirty="0"/>
              <a:t> 3.1 8B (через </a:t>
            </a:r>
            <a:r>
              <a:rPr lang="ru-RU" sz="1600" dirty="0" err="1"/>
              <a:t>Cerebras</a:t>
            </a:r>
            <a:r>
              <a:rPr lang="ru-RU" sz="1600" dirty="0"/>
              <a:t> API). Перед генерацией ответа </a:t>
            </a:r>
            <a:r>
              <a:rPr lang="ru-RU" sz="1600" dirty="0" err="1"/>
              <a:t>промпт</a:t>
            </a:r>
            <a:r>
              <a:rPr lang="ru-RU" sz="1600" dirty="0"/>
              <a:t> «обогащается» контекстом пользователя</a:t>
            </a:r>
            <a:endParaRPr lang="ru-RU" sz="1600" dirty="0">
              <a:latin typeface="+mj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BC3929-3EAB-B0F1-2A3B-03F31FB47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49" y="1315962"/>
            <a:ext cx="4957189" cy="3484272"/>
          </a:xfrm>
          <a:prstGeom prst="rect">
            <a:avLst/>
          </a:prstGeom>
        </p:spPr>
      </p:pic>
      <p:pic>
        <p:nvPicPr>
          <p:cNvPr id="8" name="Рисунок 7" descr="CatBoost - что это за мощный алгоритм градиентного бустинга в Python">
            <a:extLst>
              <a:ext uri="{FF2B5EF4-FFF2-40B4-BE49-F238E27FC236}">
                <a16:creationId xmlns:a16="http://schemas.microsoft.com/office/drawing/2014/main" id="{9DA507D4-4191-D47B-94A6-CE4DF8453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847" y="556657"/>
            <a:ext cx="2244224" cy="942399"/>
          </a:xfrm>
          <a:prstGeom prst="rect">
            <a:avLst/>
          </a:prstGeom>
        </p:spPr>
      </p:pic>
      <p:pic>
        <p:nvPicPr>
          <p:cNvPr id="9" name="Рисунок 8" descr="Cerebras Systems — Википедия">
            <a:extLst>
              <a:ext uri="{FF2B5EF4-FFF2-40B4-BE49-F238E27FC236}">
                <a16:creationId xmlns:a16="http://schemas.microsoft.com/office/drawing/2014/main" id="{0DA94BD7-1913-44A6-AC94-273096ACF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099" y="1661503"/>
            <a:ext cx="1675972" cy="74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82175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Номер слайда 6"/>
          <p:cNvSpPr txBox="1">
            <a:spLocks noGrp="1"/>
          </p:cNvSpPr>
          <p:nvPr>
            <p:ph type="sldNum" sz="quarter" idx="2"/>
          </p:nvPr>
        </p:nvSpPr>
        <p:spPr>
          <a:xfrm>
            <a:off x="8990155" y="4966249"/>
            <a:ext cx="128445" cy="1858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r"/>
          </a:lstStyle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37" name="Заголовок 1"/>
          <p:cNvSpPr txBox="1">
            <a:spLocks noGrp="1"/>
          </p:cNvSpPr>
          <p:nvPr>
            <p:ph type="title"/>
          </p:nvPr>
        </p:nvSpPr>
        <p:spPr>
          <a:xfrm>
            <a:off x="229749" y="115956"/>
            <a:ext cx="7149557" cy="4407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/>
              <a:t>Система достижений</a:t>
            </a:r>
            <a:endParaRPr lang="ru-RU" dirty="0">
              <a:effectLst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7BD4370B-235B-E666-4F76-A97AA4D2BEE6}"/>
              </a:ext>
            </a:extLst>
          </p:cNvPr>
          <p:cNvSpPr txBox="1"/>
          <p:nvPr/>
        </p:nvSpPr>
        <p:spPr>
          <a:xfrm>
            <a:off x="229749" y="829285"/>
            <a:ext cx="5898625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000000"/>
                </a:solidFill>
                <a:latin typeface="NeverMind"/>
                <a:ea typeface="NeverMind"/>
                <a:cs typeface="NeverMind"/>
                <a:sym typeface="NeverMind"/>
              </a:defRPr>
            </a:lvl1pPr>
          </a:lstStyle>
          <a:p>
            <a:r>
              <a:rPr lang="ru-RU" dirty="0"/>
              <a:t>Геймификация: Система мотивации основана на логическом графе наград, состоящем из 13 достижений. </a:t>
            </a:r>
            <a:endParaRPr lang="ru-RU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53F1F2-DFDC-7C33-6A97-5EAD626E7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639" y="1429737"/>
            <a:ext cx="6140722" cy="336222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Номер слайда 6"/>
          <p:cNvSpPr txBox="1">
            <a:spLocks noGrp="1"/>
          </p:cNvSpPr>
          <p:nvPr>
            <p:ph type="sldNum" sz="quarter" idx="2"/>
          </p:nvPr>
        </p:nvSpPr>
        <p:spPr>
          <a:xfrm>
            <a:off x="8990155" y="4966249"/>
            <a:ext cx="128446" cy="1858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r"/>
          </a:lstStyle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64" name="Заголовок 1"/>
          <p:cNvSpPr txBox="1">
            <a:spLocks noGrp="1"/>
          </p:cNvSpPr>
          <p:nvPr>
            <p:ph type="title"/>
          </p:nvPr>
        </p:nvSpPr>
        <p:spPr>
          <a:xfrm>
            <a:off x="229749" y="115957"/>
            <a:ext cx="7149557" cy="4407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ru-RU" dirty="0"/>
              <a:t>Выводы и перспективы дальнейшего развития</a:t>
            </a:r>
            <a:endParaRPr lang="ru-RU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4B440-0D9F-8EDC-3EB9-6A6FAB96AF7B}"/>
              </a:ext>
            </a:extLst>
          </p:cNvPr>
          <p:cNvSpPr txBox="1"/>
          <p:nvPr/>
        </p:nvSpPr>
        <p:spPr>
          <a:xfrm>
            <a:off x="229749" y="996249"/>
            <a:ext cx="6596803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dirty="0"/>
              <a:t>Выводы: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/>
              <a:t>Разработанная система полностью решает проблему фрагментации. Создан сложный, отказоустойчивый коммерческий программный комплекс на современном стеке, готовый к публикации в </a:t>
            </a:r>
            <a:r>
              <a:rPr lang="ru-RU" dirty="0" err="1"/>
              <a:t>App</a:t>
            </a:r>
            <a:r>
              <a:rPr lang="ru-RU" dirty="0"/>
              <a:t> Store и Google Play.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8AD29C-A801-DD1E-B952-F5FF024D7A3E}"/>
              </a:ext>
            </a:extLst>
          </p:cNvPr>
          <p:cNvSpPr txBox="1"/>
          <p:nvPr/>
        </p:nvSpPr>
        <p:spPr>
          <a:xfrm>
            <a:off x="229749" y="2762256"/>
            <a:ext cx="8621546" cy="2031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dirty="0"/>
              <a:t>Перспективы:</a:t>
            </a:r>
            <a:br>
              <a:rPr lang="ru-RU" dirty="0"/>
            </a:br>
            <a:br>
              <a:rPr lang="ru-RU" dirty="0"/>
            </a:br>
            <a:endParaRPr lang="ru-RU" dirty="0"/>
          </a:p>
          <a:p>
            <a:pPr lvl="1"/>
            <a:r>
              <a:rPr lang="ru-RU" dirty="0"/>
              <a:t>Публикация приложения</a:t>
            </a:r>
          </a:p>
          <a:p>
            <a:pPr lvl="1"/>
            <a:r>
              <a:rPr lang="ru-RU" dirty="0"/>
              <a:t>Расширение экосистемы: Интеграция с носимыми устройствами (Apple Health, Garmin, Google </a:t>
            </a:r>
            <a:r>
              <a:rPr lang="ru-RU" dirty="0" err="1"/>
              <a:t>Fit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Запуск маркетплейса для профессиональных тренеров.</a:t>
            </a:r>
          </a:p>
          <a:p>
            <a:pPr lvl="1"/>
            <a:r>
              <a:rPr lang="ru-RU" dirty="0"/>
              <a:t>Внедрение Computer Vision: Распознавание КБЖУ блюд по фото и биометрический анализ состава тела по фото. </a:t>
            </a:r>
          </a:p>
          <a:p>
            <a:pPr lvl="1"/>
            <a:r>
              <a:rPr lang="ru-RU" dirty="0"/>
              <a:t>Монетизация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AutoShape 19"/>
          <p:cNvGrpSpPr/>
          <p:nvPr/>
        </p:nvGrpSpPr>
        <p:grpSpPr>
          <a:xfrm>
            <a:off x="2509226" y="1427249"/>
            <a:ext cx="4125548" cy="2143141"/>
            <a:chOff x="0" y="0"/>
            <a:chExt cx="4125546" cy="2143140"/>
          </a:xfrm>
        </p:grpSpPr>
        <p:sp>
          <p:nvSpPr>
            <p:cNvPr id="168" name="Закругленный прямоугольник"/>
            <p:cNvSpPr/>
            <p:nvPr/>
          </p:nvSpPr>
          <p:spPr>
            <a:xfrm>
              <a:off x="0" y="0"/>
              <a:ext cx="4125546" cy="2143140"/>
            </a:xfrm>
            <a:prstGeom prst="roundRect">
              <a:avLst>
                <a:gd name="adj" fmla="val 6097"/>
              </a:avLst>
            </a:prstGeom>
            <a:noFill/>
            <a:ln w="22225" cap="flat">
              <a:solidFill>
                <a:srgbClr val="FF66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 b="1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69" name="Спасибо за внимание!"/>
            <p:cNvSpPr txBox="1"/>
            <p:nvPr/>
          </p:nvSpPr>
          <p:spPr>
            <a:xfrm>
              <a:off x="36844" y="828466"/>
              <a:ext cx="4051857" cy="486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2800" b="1">
                  <a:solidFill>
                    <a:srgbClr val="000000"/>
                  </a:solidFill>
                </a:defRPr>
              </a:lvl1pPr>
            </a:lstStyle>
            <a:p>
              <a:r>
                <a:rPr dirty="0" err="1"/>
                <a:t>Спасибо</a:t>
              </a:r>
              <a:r>
                <a:rPr dirty="0"/>
                <a:t> </a:t>
              </a:r>
              <a:r>
                <a:rPr dirty="0" err="1"/>
                <a:t>за</a:t>
              </a:r>
              <a:r>
                <a:rPr dirty="0"/>
                <a:t> </a:t>
              </a:r>
              <a:r>
                <a:rPr dirty="0" err="1"/>
                <a:t>внимание</a:t>
              </a:r>
              <a:r>
                <a:rPr dirty="0"/>
                <a:t>!</a:t>
              </a:r>
            </a:p>
          </p:txBody>
        </p:sp>
      </p:grpSp>
      <p:sp>
        <p:nvSpPr>
          <p:cNvPr id="171" name="AutoShape 16"/>
          <p:cNvSpPr/>
          <p:nvPr/>
        </p:nvSpPr>
        <p:spPr>
          <a:xfrm>
            <a:off x="1973443" y="1963032"/>
            <a:ext cx="401241" cy="1062039"/>
          </a:xfrm>
          <a:prstGeom prst="roundRect">
            <a:avLst>
              <a:gd name="adj" fmla="val 16667"/>
            </a:avLst>
          </a:prstGeom>
          <a:solidFill>
            <a:srgbClr val="FF9400"/>
          </a:solidFill>
          <a:ln w="22225">
            <a:solidFill>
              <a:srgbClr val="FF6600"/>
            </a:solidFill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9D8AA3-81D9-18F5-8FAF-0C7E8FFE15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44" t="3072" r="4853" b="2235"/>
          <a:stretch>
            <a:fillRect/>
          </a:stretch>
        </p:blipFill>
        <p:spPr>
          <a:xfrm>
            <a:off x="7300685" y="3214215"/>
            <a:ext cx="1601410" cy="173999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773</Words>
  <Application>Microsoft Office PowerPoint</Application>
  <PresentationFormat>Экран (16:9)</PresentationFormat>
  <Paragraphs>76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White</vt:lpstr>
      <vt:lpstr>«AI Fitness Coach Ecosystem: Централизованная платформа с ИИ-тренером, чатом, персональными рекомендациями, трекингом прогресса и питания»</vt:lpstr>
      <vt:lpstr>Определение актуальности и проблемы исследования</vt:lpstr>
      <vt:lpstr>Обзор существующих решений </vt:lpstr>
      <vt:lpstr>Общая архитектура решения. Использованные технологии</vt:lpstr>
      <vt:lpstr>Бэкенд, доккер и БД</vt:lpstr>
      <vt:lpstr>Описание сервиса тренировок</vt:lpstr>
      <vt:lpstr>Сервис питания</vt:lpstr>
      <vt:lpstr>AI модель и AI чат</vt:lpstr>
      <vt:lpstr>Система достижений</vt:lpstr>
      <vt:lpstr>Выводы и перспективы дальнейшего развития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Анастасия Петрушевская</dc:creator>
  <cp:lastModifiedBy>Макс Тер</cp:lastModifiedBy>
  <cp:revision>41</cp:revision>
  <dcterms:modified xsi:type="dcterms:W3CDTF">2026-05-27T20:05:07Z</dcterms:modified>
</cp:coreProperties>
</file>